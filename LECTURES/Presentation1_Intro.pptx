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43" r:id="rId3"/>
    <p:sldId id="272" r:id="rId4"/>
    <p:sldId id="331" r:id="rId5"/>
    <p:sldId id="332" r:id="rId6"/>
    <p:sldId id="333" r:id="rId7"/>
    <p:sldId id="338" r:id="rId8"/>
    <p:sldId id="348" r:id="rId9"/>
    <p:sldId id="346" r:id="rId10"/>
    <p:sldId id="340" r:id="rId11"/>
    <p:sldId id="341" r:id="rId12"/>
    <p:sldId id="258" r:id="rId13"/>
    <p:sldId id="347" r:id="rId14"/>
    <p:sldId id="345" r:id="rId15"/>
    <p:sldId id="342" r:id="rId16"/>
    <p:sldId id="261" r:id="rId17"/>
    <p:sldId id="260" r:id="rId18"/>
    <p:sldId id="34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3"/>
    <p:restoredTop sz="94697"/>
  </p:normalViewPr>
  <p:slideViewPr>
    <p:cSldViewPr snapToGrid="0">
      <p:cViewPr>
        <p:scale>
          <a:sx n="88" d="100"/>
          <a:sy n="88" d="100"/>
        </p:scale>
        <p:origin x="2352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85CCE8-32F2-C149-8DA8-43EFF7672A7B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62724-3D9B-F749-A87A-D0F2A5F18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1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23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19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252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4A4C9-4186-3507-DB15-F87F3D5E5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7DC634-3CF8-A18F-47F8-499AD3D0B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77587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1949-6D77-9AF1-9495-086EACF3A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136525"/>
            <a:ext cx="7315200" cy="7931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EBE52-13E9-49DA-3C7F-4E36AE50E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AA3AD-4747-DD98-3291-B1E0A9DEB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AB567-A2E6-4C66-0069-8982C92C2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C03A6-0F40-E753-9621-9488E6D4D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5F3A3F-4912-C735-0B1D-F3E0A3D3A8EF}"/>
              </a:ext>
            </a:extLst>
          </p:cNvPr>
          <p:cNvSpPr txBox="1"/>
          <p:nvPr userDrawn="1"/>
        </p:nvSpPr>
        <p:spPr>
          <a:xfrm>
            <a:off x="1163782" y="4750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399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4896F-84C6-C91E-ABD1-96F9F2AA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A77D1-C424-252C-6992-8B6FAE8EFE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342FD-A0CA-6515-5DA8-ECDFC87E2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B7864-DEC2-15C3-69BE-1113213C8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638F9-CD6D-A9BF-4A13-E73ED0B2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4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90D7-BDC7-1C57-8F85-ADB87E6DA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7E670-BDF5-F4DE-A929-59DBA5864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11693-581D-B3A1-A83E-4F355BB2E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1F7680-4F22-7953-CBB3-BDBB6B9AC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0CF5B-9E48-B229-F6D9-C47EEAE50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CA669-96C4-AA17-6025-31D2E02F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037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D1C58-954A-B69E-AB23-C418AF33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D0B7B-8E5C-6B0A-EC13-9F829FDB6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9DF8F-D7C3-ADBA-7006-39812F3456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57CEC-AD59-8840-64A8-83DA870FB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BCBFC-01BA-3A5F-400C-439F75EF5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C29B65-05D1-FF56-4149-12DF167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E58809-7816-C93C-755C-971EDB23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2B01D-E13B-60CD-8930-95622E1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63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76152-7D29-F7EF-FB48-232116614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FD13E9-772F-C43E-551F-428F4E845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B26495-1384-4813-4C8A-A0AE0011E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603FA3-997B-3F08-4742-42EFCAF1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24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30C20-1E5A-8862-9C09-5C1EA4A20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725766-A74C-E9C9-DC10-B463E87F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2DBD-5E5E-DE01-88FC-13879732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019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7D603-5C91-66EF-62C6-3A549E2AC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E14BC-F4A1-4758-DD62-A5C0B695F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9D722E-2B8A-A385-0898-0BFDEE220F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2A365-18CB-7D59-3BE4-01AD1BA4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88D8B0-52F8-2050-1ABF-F6B0DE54E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70C1BF-CD3F-C665-7D74-9C1910849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54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FFDD-EE8F-530D-0654-EA74F7F28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6658B-29DC-1F1E-94EB-99BB942D4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3279A-D6A3-51FC-13A8-5245608F6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C1297-A5CD-40EE-9D3E-D9C169EC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DB40B9-45A3-3BD3-F7FA-FE0BE5E94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10809-7694-6AB7-C054-3D851675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25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F45A9-1D6D-6D9E-7B9D-ACCD1BE8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633063-5AF9-E8B8-36D7-439CEBE4C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3D60B-FD3A-36E3-5408-4B94CAE64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8DA3E-8A00-B0ED-BEF8-3F429C0DE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DAA70-0D17-186C-2F10-89207F8D6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921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BB87EF-E92C-A336-94CF-DE5A771DAE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2B874D-0D30-6685-06E8-FAFB7A66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911F7-B4BD-44C2-783A-1C62875C0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35188-9425-8EBB-EF56-5BC97FED9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11D90-4D96-4B5F-9264-0B61DA93C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01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9220A0-9484-0611-C48B-E869C90B3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9A129-5AFD-C989-1ADA-8C919C1E3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94775"/>
            <a:ext cx="10515600" cy="4182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0882F-11EB-62C5-9D73-417B2934E9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8ADCC7-412C-C340-BE94-A5F2BD9AFF85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7507B-3837-2443-762F-1A0DA5A954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71F6D-57B3-E57E-A944-BD874383D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word cloud of different colored words&#10;&#10;Description automatically generated">
            <a:extLst>
              <a:ext uri="{FF2B5EF4-FFF2-40B4-BE49-F238E27FC236}">
                <a16:creationId xmlns:a16="http://schemas.microsoft.com/office/drawing/2014/main" id="{359A22C0-1A88-04CD-7090-A9EAA8C135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4724" t="29526" r="4117" b="29279"/>
          <a:stretch/>
        </p:blipFill>
        <p:spPr>
          <a:xfrm>
            <a:off x="59165" y="147283"/>
            <a:ext cx="3861100" cy="17448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C17430-171D-9F77-35A4-92F7D16200D2}"/>
              </a:ext>
            </a:extLst>
          </p:cNvPr>
          <p:cNvSpPr txBox="1"/>
          <p:nvPr userDrawn="1"/>
        </p:nvSpPr>
        <p:spPr>
          <a:xfrm>
            <a:off x="177500" y="249923"/>
            <a:ext cx="1946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KY-INBRE NGS Workshop</a:t>
            </a:r>
          </a:p>
        </p:txBody>
      </p:sp>
    </p:spTree>
    <p:extLst>
      <p:ext uri="{BB962C8B-B14F-4D97-AF65-F5344CB8AC3E}">
        <p14:creationId xmlns:p14="http://schemas.microsoft.com/office/powerpoint/2010/main" val="25852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ud of words&#10;&#10;Description automatically generated">
            <a:extLst>
              <a:ext uri="{FF2B5EF4-FFF2-40B4-BE49-F238E27FC236}">
                <a16:creationId xmlns:a16="http://schemas.microsoft.com/office/drawing/2014/main" id="{1F4B3131-6146-101A-1518-6ECDD4B096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8318" b="28032"/>
          <a:stretch/>
        </p:blipFill>
        <p:spPr>
          <a:xfrm>
            <a:off x="2084614" y="1752599"/>
            <a:ext cx="6858000" cy="2993571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AC69A672-ABFA-745B-9AD2-32D75D4C5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4601" y="4746170"/>
            <a:ext cx="9144000" cy="1655762"/>
          </a:xfrm>
        </p:spPr>
        <p:txBody>
          <a:bodyPr/>
          <a:lstStyle/>
          <a:p>
            <a:r>
              <a:rPr lang="en-US" dirty="0"/>
              <a:t>University of Kentucky</a:t>
            </a:r>
          </a:p>
          <a:p>
            <a:r>
              <a:rPr lang="en-US" dirty="0"/>
              <a:t>June, 15</a:t>
            </a:r>
            <a:r>
              <a:rPr lang="en-US" baseline="30000" dirty="0"/>
              <a:t>th</a:t>
            </a:r>
            <a:r>
              <a:rPr lang="en-US" dirty="0"/>
              <a:t> – 18</a:t>
            </a:r>
            <a:r>
              <a:rPr lang="en-US" baseline="30000" dirty="0"/>
              <a:t>th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F27D07-75A3-A3CB-7847-6AE0E0062D80}"/>
              </a:ext>
            </a:extLst>
          </p:cNvPr>
          <p:cNvSpPr/>
          <p:nvPr/>
        </p:nvSpPr>
        <p:spPr>
          <a:xfrm>
            <a:off x="97971" y="97971"/>
            <a:ext cx="3973286" cy="1839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47876C-0AEB-1C5C-E989-4009B45863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880" b="29625"/>
          <a:stretch/>
        </p:blipFill>
        <p:spPr>
          <a:xfrm>
            <a:off x="6673850" y="5611349"/>
            <a:ext cx="2540000" cy="1206391"/>
          </a:xfrm>
          <a:prstGeom prst="rect">
            <a:avLst/>
          </a:prstGeom>
        </p:spPr>
      </p:pic>
      <p:pic>
        <p:nvPicPr>
          <p:cNvPr id="4" name="Picture 3" descr="Louisville.gif">
            <a:extLst>
              <a:ext uri="{FF2B5EF4-FFF2-40B4-BE49-F238E27FC236}">
                <a16:creationId xmlns:a16="http://schemas.microsoft.com/office/drawing/2014/main" id="{A5EEF95A-47FD-BF81-CEAF-566C0AFA9A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484" y="5698607"/>
            <a:ext cx="3298117" cy="1031874"/>
          </a:xfrm>
          <a:prstGeom prst="rect">
            <a:avLst/>
          </a:prstGeom>
        </p:spPr>
      </p:pic>
      <p:pic>
        <p:nvPicPr>
          <p:cNvPr id="5" name="Picture 5" descr="uky377x191logo.jpg">
            <a:extLst>
              <a:ext uri="{FF2B5EF4-FFF2-40B4-BE49-F238E27FC236}">
                <a16:creationId xmlns:a16="http://schemas.microsoft.com/office/drawing/2014/main" id="{9B863F76-7D8E-709A-761F-DD5906CAFB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203" y="5760519"/>
            <a:ext cx="1792288" cy="90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5C4922-1469-5A5D-2430-860883AE18A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1601" b="10210"/>
          <a:stretch/>
        </p:blipFill>
        <p:spPr>
          <a:xfrm>
            <a:off x="10215932" y="5698607"/>
            <a:ext cx="1343591" cy="1050533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CA495C8B-BD02-E0DB-22EE-BE31B84E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940" y="241336"/>
            <a:ext cx="10211322" cy="1552956"/>
          </a:xfrm>
        </p:spPr>
        <p:txBody>
          <a:bodyPr>
            <a:noAutofit/>
          </a:bodyPr>
          <a:lstStyle/>
          <a:p>
            <a:r>
              <a:rPr lang="en-US" sz="4800" b="1" dirty="0">
                <a:effectLst/>
                <a:latin typeface="MyriadPro"/>
              </a:rPr>
              <a:t>KY-INBRE Essential Bioinformatics Skills Workshop 2026 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2758680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BF51-D43F-D411-867E-8EADBAC4E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1761" y="291231"/>
            <a:ext cx="7315200" cy="133878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NGS Data Are Accumulating Faster Than They Can Be Analyzed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E3EC0-A994-932B-9CAA-3F91B027F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650" y="2231347"/>
            <a:ext cx="5005750" cy="3978048"/>
          </a:xfrm>
        </p:spPr>
        <p:txBody>
          <a:bodyPr>
            <a:normAutofit/>
          </a:bodyPr>
          <a:lstStyle/>
          <a:p>
            <a:r>
              <a:rPr lang="en-US" dirty="0"/>
              <a:t>Sequencing is accessible to, and affordable for, everyone</a:t>
            </a:r>
          </a:p>
          <a:p>
            <a:r>
              <a:rPr lang="en-US" dirty="0"/>
              <a:t>NGS is almost expected in all fields of biological study</a:t>
            </a:r>
          </a:p>
          <a:p>
            <a:r>
              <a:rPr lang="en-US" dirty="0"/>
              <a:t>Many researchers are generating NGS data</a:t>
            </a:r>
          </a:p>
          <a:p>
            <a:r>
              <a:rPr lang="en-US" dirty="0"/>
              <a:t>But few have the knowledge required to analyze it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B4CAD9-2E37-3DA2-80AA-23FCA3D8F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819" y="4447303"/>
            <a:ext cx="5208206" cy="2270778"/>
          </a:xfrm>
          <a:prstGeom prst="rect">
            <a:avLst/>
          </a:prstGeom>
        </p:spPr>
      </p:pic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26F73336-17DD-6F5D-090B-DD9BE631CE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050" r="-12050"/>
          <a:stretch>
            <a:fillRect/>
          </a:stretch>
        </p:blipFill>
        <p:spPr bwMode="auto">
          <a:xfrm>
            <a:off x="5243867" y="1782295"/>
            <a:ext cx="5208205" cy="2864312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FFDFC-82B3-47A0-E603-8432010FA4BA}"/>
              </a:ext>
            </a:extLst>
          </p:cNvPr>
          <p:cNvSpPr txBox="1"/>
          <p:nvPr/>
        </p:nvSpPr>
        <p:spPr>
          <a:xfrm>
            <a:off x="9169424" y="1881080"/>
            <a:ext cx="195820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Next Generation</a:t>
            </a:r>
          </a:p>
          <a:p>
            <a:pPr algn="ctr"/>
            <a:r>
              <a:rPr lang="en-US" dirty="0"/>
              <a:t>Sequencing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D0441AC-97D9-490E-DC23-B5C49A7DE3F7}"/>
              </a:ext>
            </a:extLst>
          </p:cNvPr>
          <p:cNvSpPr/>
          <p:nvPr/>
        </p:nvSpPr>
        <p:spPr>
          <a:xfrm rot="8490849">
            <a:off x="8790798" y="2550221"/>
            <a:ext cx="296249" cy="1481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64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38104" y="1860231"/>
            <a:ext cx="8229600" cy="4525963"/>
          </a:xfrm>
        </p:spPr>
        <p:txBody>
          <a:bodyPr>
            <a:normAutofit/>
          </a:bodyPr>
          <a:lstStyle/>
          <a:p>
            <a:pPr lvl="1"/>
            <a:endParaRPr lang="en-US" sz="2800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90E6906-F002-534D-6823-694AF8660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309571"/>
            <a:ext cx="7315200" cy="793115"/>
          </a:xfrm>
          <a:solidFill>
            <a:schemeClr val="bg1">
              <a:lumMod val="85000"/>
            </a:schemeClr>
          </a:solidFill>
          <a:effectLst/>
        </p:spPr>
        <p:txBody>
          <a:bodyPr/>
          <a:lstStyle/>
          <a:p>
            <a:pPr algn="ctr"/>
            <a:r>
              <a:rPr lang="en-US" dirty="0"/>
              <a:t>Why is This?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17477-598E-CFC6-ADC0-8EEE6F9B5F0C}"/>
              </a:ext>
            </a:extLst>
          </p:cNvPr>
          <p:cNvSpPr txBox="1">
            <a:spLocks/>
          </p:cNvSpPr>
          <p:nvPr/>
        </p:nvSpPr>
        <p:spPr>
          <a:xfrm>
            <a:off x="924296" y="2056141"/>
            <a:ext cx="10510784" cy="94932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Bioinformatics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14A171-096C-E47F-3DD2-72F093CFDB03}"/>
              </a:ext>
            </a:extLst>
          </p:cNvPr>
          <p:cNvSpPr txBox="1">
            <a:spLocks/>
          </p:cNvSpPr>
          <p:nvPr/>
        </p:nvSpPr>
        <p:spPr>
          <a:xfrm>
            <a:off x="924296" y="3291214"/>
            <a:ext cx="10594472" cy="4576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dirty="0"/>
              <a:t>“…an interdisciplinary field that develops methods and software tools for understanding biological data. As an interdisciplinary field of science, bioinformatics combines </a:t>
            </a:r>
            <a:r>
              <a:rPr lang="en-US" u="sng" dirty="0"/>
              <a:t>biology</a:t>
            </a:r>
            <a:r>
              <a:rPr lang="en-US" dirty="0"/>
              <a:t>, </a:t>
            </a:r>
            <a:r>
              <a:rPr lang="en-US" u="sng" dirty="0"/>
              <a:t>computer science</a:t>
            </a:r>
            <a:r>
              <a:rPr lang="en-US" dirty="0"/>
              <a:t>, </a:t>
            </a:r>
            <a:r>
              <a:rPr lang="en-US" u="sng" dirty="0"/>
              <a:t>information engineering</a:t>
            </a:r>
            <a:r>
              <a:rPr lang="en-US" dirty="0"/>
              <a:t>, </a:t>
            </a:r>
            <a:r>
              <a:rPr lang="en-US" u="sng" dirty="0"/>
              <a:t>mathematics</a:t>
            </a:r>
            <a:r>
              <a:rPr lang="en-US" dirty="0"/>
              <a:t> and </a:t>
            </a:r>
            <a:r>
              <a:rPr lang="en-US" u="sng" dirty="0"/>
              <a:t>statistics</a:t>
            </a:r>
            <a:r>
              <a:rPr lang="en-US" dirty="0"/>
              <a:t> to analyze and interpret biological data”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7FBE5A-3459-788E-115D-89D4349E41F0}"/>
              </a:ext>
            </a:extLst>
          </p:cNvPr>
          <p:cNvSpPr txBox="1"/>
          <p:nvPr/>
        </p:nvSpPr>
        <p:spPr>
          <a:xfrm>
            <a:off x="9664916" y="5105429"/>
            <a:ext cx="1853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Wikipedia</a:t>
            </a:r>
          </a:p>
        </p:txBody>
      </p:sp>
    </p:spTree>
    <p:extLst>
      <p:ext uri="{BB962C8B-B14F-4D97-AF65-F5344CB8AC3E}">
        <p14:creationId xmlns:p14="http://schemas.microsoft.com/office/powerpoint/2010/main" val="173414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56" y="2309187"/>
            <a:ext cx="10288244" cy="356282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E257D620-C3A5-EA25-6510-686327B33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506" y="302780"/>
            <a:ext cx="7198294" cy="1190984"/>
          </a:xfr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/>
          <a:p>
            <a:pPr algn="ctr">
              <a:defRPr/>
            </a:pPr>
            <a:r>
              <a:rPr lang="en-US" sz="3600" dirty="0"/>
              <a:t>Essentials Bioinformatics Skills Workshop</a:t>
            </a:r>
          </a:p>
        </p:txBody>
      </p:sp>
    </p:spTree>
    <p:extLst>
      <p:ext uri="{BB962C8B-B14F-4D97-AF65-F5344CB8AC3E}">
        <p14:creationId xmlns:p14="http://schemas.microsoft.com/office/powerpoint/2010/main" val="307164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1355" y="1535565"/>
            <a:ext cx="8179131" cy="5104720"/>
          </a:xfrm>
        </p:spPr>
        <p:txBody>
          <a:bodyPr>
            <a:normAutofit/>
          </a:bodyPr>
          <a:lstStyle/>
          <a:p>
            <a:r>
              <a:rPr lang="en-US" dirty="0"/>
              <a:t>Provide </a:t>
            </a:r>
            <a:r>
              <a:rPr lang="en-US" u="sng" dirty="0"/>
              <a:t>basic</a:t>
            </a:r>
            <a:r>
              <a:rPr lang="en-US" dirty="0"/>
              <a:t> training in sequence data analysis</a:t>
            </a:r>
          </a:p>
          <a:p>
            <a:r>
              <a:rPr lang="en-US" dirty="0"/>
              <a:t>Build </a:t>
            </a:r>
            <a:r>
              <a:rPr lang="en-US" u="sng" dirty="0"/>
              <a:t>confidence</a:t>
            </a:r>
            <a:r>
              <a:rPr lang="en-US" dirty="0"/>
              <a:t> in using the UNIX command line interface</a:t>
            </a:r>
          </a:p>
          <a:p>
            <a:r>
              <a:rPr lang="en-US" dirty="0"/>
              <a:t>Introduce </a:t>
            </a:r>
            <a:r>
              <a:rPr lang="en-US" u="sng" dirty="0"/>
              <a:t>commonly-used tools</a:t>
            </a:r>
            <a:r>
              <a:rPr lang="en-US" dirty="0"/>
              <a:t> and </a:t>
            </a:r>
            <a:r>
              <a:rPr lang="en-US" u="sng" dirty="0"/>
              <a:t>key concepts</a:t>
            </a:r>
            <a:r>
              <a:rPr lang="en-US" dirty="0"/>
              <a:t> for analyzing large sequence datasets </a:t>
            </a:r>
          </a:p>
          <a:p>
            <a:r>
              <a:rPr lang="en-US" dirty="0"/>
              <a:t>Establish a </a:t>
            </a:r>
            <a:r>
              <a:rPr lang="en-US" u="sng" dirty="0"/>
              <a:t>solid foundation </a:t>
            </a:r>
            <a:r>
              <a:rPr lang="en-US" dirty="0"/>
              <a:t>for building further bioinformatics expertise</a:t>
            </a:r>
          </a:p>
          <a:p>
            <a:r>
              <a:rPr lang="en-US" dirty="0"/>
              <a:t>Participants with different backgrounds</a:t>
            </a:r>
          </a:p>
          <a:p>
            <a:pPr lvl="1"/>
            <a:r>
              <a:rPr lang="en-US" dirty="0"/>
              <a:t>Undergraduate students to postdocs</a:t>
            </a:r>
          </a:p>
          <a:p>
            <a:pPr lvl="1"/>
            <a:r>
              <a:rPr lang="en-US" dirty="0"/>
              <a:t>Novice…		to	expert </a:t>
            </a:r>
          </a:p>
          <a:p>
            <a:pPr lvl="1"/>
            <a:r>
              <a:rPr lang="en-US" dirty="0"/>
              <a:t>Take your time			please provide assistance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847BF89-52B6-55F4-BB4F-F057F3C4B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715" y="217715"/>
            <a:ext cx="7315200" cy="879928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/>
            <a:r>
              <a:rPr lang="en-US" dirty="0"/>
              <a:t>Goals</a:t>
            </a:r>
          </a:p>
        </p:txBody>
      </p:sp>
    </p:spTree>
    <p:extLst>
      <p:ext uri="{BB962C8B-B14F-4D97-AF65-F5344CB8AC3E}">
        <p14:creationId xmlns:p14="http://schemas.microsoft.com/office/powerpoint/2010/main" val="348549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12142" y="1300533"/>
            <a:ext cx="7315200" cy="5192341"/>
          </a:xfrm>
        </p:spPr>
        <p:txBody>
          <a:bodyPr>
            <a:normAutofit lnSpcReduction="10000"/>
          </a:bodyPr>
          <a:lstStyle/>
          <a:p>
            <a:pPr>
              <a:spcBef>
                <a:spcPts val="3168"/>
              </a:spcBef>
            </a:pPr>
            <a:r>
              <a:rPr lang="en-US" dirty="0"/>
              <a:t>Hands on activities</a:t>
            </a:r>
          </a:p>
          <a:p>
            <a:pPr>
              <a:spcBef>
                <a:spcPts val="600"/>
              </a:spcBef>
            </a:pPr>
            <a:r>
              <a:rPr lang="en-US" dirty="0"/>
              <a:t>Sequence data </a:t>
            </a:r>
            <a:r>
              <a:rPr lang="en-US" dirty="0">
                <a:sym typeface="Wingdings"/>
              </a:rPr>
              <a:t> biological insight</a:t>
            </a:r>
          </a:p>
          <a:p>
            <a:pPr>
              <a:spcBef>
                <a:spcPts val="600"/>
              </a:spcBef>
            </a:pPr>
            <a:r>
              <a:rPr lang="en-US" dirty="0"/>
              <a:t>Introductory, bare bones bioinformatics (B</a:t>
            </a:r>
            <a:r>
              <a:rPr lang="en-US" baseline="30000" dirty="0"/>
              <a:t>3</a:t>
            </a:r>
            <a:r>
              <a:rPr lang="en-US" dirty="0"/>
              <a:t>)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Data formats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Workflows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Sequence quality assessment and trimming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Sequence assembly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Comparing assembled sequences using blast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Gene Prediction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Data visualization (Genome Browsers)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Aligning </a:t>
            </a:r>
            <a:r>
              <a:rPr lang="en-US" dirty="0" err="1"/>
              <a:t>RNAseq</a:t>
            </a:r>
            <a:r>
              <a:rPr lang="en-US" dirty="0"/>
              <a:t> reads to a reference genome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Reference-based transcript assembly and quantification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Gene expression analysis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Identification of sequence variants</a:t>
            </a:r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658A98-3DED-E075-F3E5-3F75C4836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2771" y="262538"/>
            <a:ext cx="7315200" cy="84296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/>
            <a:r>
              <a:rPr lang="en-US" dirty="0"/>
              <a:t>Workshop format</a:t>
            </a:r>
          </a:p>
        </p:txBody>
      </p:sp>
      <p:pic>
        <p:nvPicPr>
          <p:cNvPr id="7" name="Picture 6" descr="A group of people in a room with computers&#10;&#10;Description automatically generated">
            <a:extLst>
              <a:ext uri="{FF2B5EF4-FFF2-40B4-BE49-F238E27FC236}">
                <a16:creationId xmlns:a16="http://schemas.microsoft.com/office/drawing/2014/main" id="{3E628F00-72FB-1887-7649-6B26EB2B9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51242" y="2838478"/>
            <a:ext cx="4652794" cy="347523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1000">
                <a:schemeClr val="bg1"/>
              </a:gs>
              <a:gs pos="20000">
                <a:schemeClr val="bg1"/>
              </a:gs>
              <a:gs pos="100000">
                <a:schemeClr val="bg1"/>
              </a:gs>
            </a:gsLst>
            <a:lin ang="5400000" scaled="1"/>
            <a:tileRect/>
          </a:gradFill>
          <a:effectLst/>
        </p:spPr>
      </p:pic>
    </p:spTree>
    <p:extLst>
      <p:ext uri="{BB962C8B-B14F-4D97-AF65-F5344CB8AC3E}">
        <p14:creationId xmlns:p14="http://schemas.microsoft.com/office/powerpoint/2010/main" val="1863182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3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7457" y="1125537"/>
            <a:ext cx="7739743" cy="5475288"/>
          </a:xfrm>
        </p:spPr>
        <p:txBody>
          <a:bodyPr>
            <a:normAutofit lnSpcReduction="100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Open source, industry standard software</a:t>
            </a:r>
            <a:endParaRPr lang="en-US" dirty="0">
              <a:sym typeface="Wingdings"/>
            </a:endParaRPr>
          </a:p>
          <a:p>
            <a:pPr>
              <a:spcBef>
                <a:spcPts val="1200"/>
              </a:spcBef>
            </a:pPr>
            <a:r>
              <a:rPr lang="en-US" dirty="0"/>
              <a:t>Familiarize – not frighten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Understand the task at hand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What the software does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Minimal options required to run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Default settings</a:t>
            </a:r>
          </a:p>
          <a:p>
            <a:pPr>
              <a:spcBef>
                <a:spcPts val="1200"/>
              </a:spcBef>
            </a:pPr>
            <a:r>
              <a:rPr lang="en-US" dirty="0"/>
              <a:t>Build confidence and understanding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Input(s) </a:t>
            </a:r>
            <a:r>
              <a:rPr lang="en-US" dirty="0">
                <a:sym typeface="Wingdings" pitchFamily="2" charset="2"/>
              </a:rPr>
              <a:t> output(s)  biological insight(s)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Explore the output file(s)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Use the guide questions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Try and connect the results to the biology of the system</a:t>
            </a:r>
          </a:p>
          <a:p>
            <a:pPr lvl="1">
              <a:spcBef>
                <a:spcPts val="1200"/>
              </a:spcBef>
            </a:pPr>
            <a:endParaRPr lang="en-US" dirty="0">
              <a:sym typeface="Wingdings" pitchFamily="2" charset="2"/>
            </a:endParaRPr>
          </a:p>
          <a:p>
            <a:pPr>
              <a:spcBef>
                <a:spcPts val="600"/>
              </a:spcBef>
            </a:pPr>
            <a:endParaRPr lang="en-US" dirty="0">
              <a:sym typeface="Wingdings" pitchFamily="2" charset="2"/>
            </a:endParaRPr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0D49B62-102D-89AE-40D2-52EF03146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7456" y="257175"/>
            <a:ext cx="7206343" cy="766083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dirty="0"/>
              <a:t>Workshop format (cont.)</a:t>
            </a:r>
          </a:p>
        </p:txBody>
      </p:sp>
    </p:spTree>
    <p:extLst>
      <p:ext uri="{BB962C8B-B14F-4D97-AF65-F5344CB8AC3E}">
        <p14:creationId xmlns:p14="http://schemas.microsoft.com/office/powerpoint/2010/main" val="8007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14B2A-1625-3F33-A2ED-77C43B8E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3132" y="284480"/>
            <a:ext cx="7315200" cy="79311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Workshop Resources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F0D3C0-8215-D015-559C-7036099CF462}"/>
              </a:ext>
            </a:extLst>
          </p:cNvPr>
          <p:cNvSpPr txBox="1"/>
          <p:nvPr/>
        </p:nvSpPr>
        <p:spPr>
          <a:xfrm>
            <a:off x="4176203" y="1077595"/>
            <a:ext cx="7523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drdna</a:t>
            </a:r>
            <a:r>
              <a:rPr lang="en-US" dirty="0"/>
              <a:t>/KY-INBRE-Essential-Bioinformatics-Workshop/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36F42FF-E692-FDBE-8786-AE1551FF0A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16784" y="1601872"/>
            <a:ext cx="4413826" cy="49716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68FB63B-9ABB-7BE8-606E-A3D2E32C5962}"/>
              </a:ext>
            </a:extLst>
          </p:cNvPr>
          <p:cNvSpPr txBox="1">
            <a:spLocks/>
          </p:cNvSpPr>
          <p:nvPr/>
        </p:nvSpPr>
        <p:spPr>
          <a:xfrm>
            <a:off x="715617" y="2147276"/>
            <a:ext cx="5936974" cy="4333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dirty="0"/>
              <a:t>Outlines of activities</a:t>
            </a:r>
            <a:endParaRPr lang="en-US" dirty="0">
              <a:sym typeface="Wingdings"/>
            </a:endParaRPr>
          </a:p>
          <a:p>
            <a:pPr>
              <a:spcBef>
                <a:spcPts val="1200"/>
              </a:spcBef>
            </a:pPr>
            <a:r>
              <a:rPr lang="en-US" dirty="0"/>
              <a:t>Exercise Modules</a:t>
            </a:r>
          </a:p>
          <a:p>
            <a:pPr>
              <a:spcBef>
                <a:spcPts val="1200"/>
              </a:spcBef>
            </a:pPr>
            <a:r>
              <a:rPr lang="en-US" dirty="0"/>
              <a:t>Presentation Slides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Links to software tools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Relevant Citations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Other Useful Resources</a:t>
            </a:r>
          </a:p>
          <a:p>
            <a:pPr>
              <a:spcBef>
                <a:spcPts val="600"/>
              </a:spcBef>
            </a:pPr>
            <a:endParaRPr lang="en-US" dirty="0">
              <a:sym typeface="Wingdings" pitchFamily="2" charset="2"/>
            </a:endParaRPr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1">
              <a:spcBef>
                <a:spcPts val="600"/>
              </a:spcBef>
            </a:pPr>
            <a:endParaRPr lang="en-US" sz="2800" dirty="0"/>
          </a:p>
          <a:p>
            <a:pPr lvl="1"/>
            <a:endParaRPr lang="en-US" sz="2800" dirty="0"/>
          </a:p>
          <a:p>
            <a:pPr lvl="1"/>
            <a:endParaRPr lang="en-US" sz="2800" dirty="0"/>
          </a:p>
          <a:p>
            <a:pPr lvl="1"/>
            <a:endParaRPr lang="en-US" sz="2800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20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bldLvl="2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5D36-9278-DD71-1DEC-B75E5630DE4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Computing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D9F91-7E4A-7586-F366-7A8AC6846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4596" y="1616765"/>
            <a:ext cx="4517195" cy="4960924"/>
          </a:xfrm>
        </p:spPr>
        <p:txBody>
          <a:bodyPr/>
          <a:lstStyle/>
          <a:p>
            <a:r>
              <a:rPr lang="en-US" dirty="0"/>
              <a:t>We will be using cloud computing to complete the workshop</a:t>
            </a:r>
          </a:p>
          <a:p>
            <a:r>
              <a:rPr lang="en-US" dirty="0"/>
              <a:t>Virtual Machines provided by Amazon Web Services</a:t>
            </a:r>
          </a:p>
          <a:p>
            <a:r>
              <a:rPr lang="en-US" dirty="0"/>
              <a:t>Identical training environment can be set up from anywhere</a:t>
            </a:r>
          </a:p>
          <a:p>
            <a:r>
              <a:rPr lang="en-US" dirty="0"/>
              <a:t>Instructions at:</a:t>
            </a:r>
          </a:p>
          <a:p>
            <a:pPr marL="228600" lvl="1" indent="0">
              <a:buNone/>
            </a:pPr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actapia</a:t>
            </a:r>
            <a:r>
              <a:rPr lang="en-US" dirty="0"/>
              <a:t>/</a:t>
            </a:r>
            <a:r>
              <a:rPr lang="en-US" dirty="0" err="1"/>
              <a:t>uky</a:t>
            </a:r>
            <a:r>
              <a:rPr lang="en-US" dirty="0"/>
              <a:t>-</a:t>
            </a:r>
            <a:r>
              <a:rPr lang="en-US" dirty="0" err="1"/>
              <a:t>ngs</a:t>
            </a:r>
            <a:r>
              <a:rPr lang="en-US" dirty="0"/>
              <a:t>-workshop-user-install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321A6B-2ACC-3831-83C4-A2DC6DDE0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53" y="2107096"/>
            <a:ext cx="6777078" cy="447059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218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38600" y="1441222"/>
            <a:ext cx="7315200" cy="5051652"/>
          </a:xfrm>
        </p:spPr>
        <p:txBody>
          <a:bodyPr>
            <a:normAutofit lnSpcReduction="10000"/>
          </a:bodyPr>
          <a:lstStyle/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Operating System with a modular design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Set of simple tools - each having a simple, well-defined function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Inter-process communication mechanism known as “pipes”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Unified filesystem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“Shells” that allows the user to communicate with the operating system to connect tools and build complex workflows</a:t>
            </a:r>
          </a:p>
          <a:p>
            <a:pPr lvl="2">
              <a:spcBef>
                <a:spcPts val="1200"/>
              </a:spcBef>
            </a:pPr>
            <a:r>
              <a:rPr lang="en-US" sz="2400" dirty="0">
                <a:sym typeface="Wingdings"/>
              </a:rPr>
              <a:t>Text-based interface – command line</a:t>
            </a:r>
          </a:p>
          <a:p>
            <a:pPr lvl="2">
              <a:spcBef>
                <a:spcPts val="1200"/>
              </a:spcBef>
            </a:pPr>
            <a:r>
              <a:rPr lang="en-US" sz="2400" dirty="0">
                <a:sym typeface="Wingdings"/>
              </a:rPr>
              <a:t>Graphical interface</a:t>
            </a:r>
            <a:endParaRPr lang="en-US" sz="2400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A69EBB4-0621-2AFB-8B34-8FE79DF26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0114" y="365126"/>
            <a:ext cx="7478486" cy="886732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dirty="0"/>
              <a:t>Today’s activity: Learning UNIX</a:t>
            </a:r>
          </a:p>
        </p:txBody>
      </p:sp>
    </p:spTree>
    <p:extLst>
      <p:ext uri="{BB962C8B-B14F-4D97-AF65-F5344CB8AC3E}">
        <p14:creationId xmlns:p14="http://schemas.microsoft.com/office/powerpoint/2010/main" val="2254083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398" y="1249066"/>
            <a:ext cx="7968345" cy="5475288"/>
          </a:xfrm>
        </p:spPr>
        <p:txBody>
          <a:bodyPr>
            <a:normAutofit fontScale="925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A way to interact with the operating system using commands issued by typing lines of text:</a:t>
            </a:r>
          </a:p>
          <a:p>
            <a:pPr lvl="1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  –options  directory/file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Manipulate, navigate and query the filesystem: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directory-name</a:t>
            </a:r>
            <a:r>
              <a:rPr lang="en-US" dirty="0"/>
              <a:t> – make a directory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cd directory-name</a:t>
            </a:r>
            <a:r>
              <a:rPr lang="en-US" dirty="0"/>
              <a:t> – change into named directory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ls directory-name</a:t>
            </a:r>
            <a:r>
              <a:rPr lang="en-US" dirty="0"/>
              <a:t> – list a directory’s contents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Create and operate on files: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 filename</a:t>
            </a:r>
            <a:r>
              <a:rPr lang="en-US" dirty="0"/>
              <a:t> – read the named file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 pattern filename </a:t>
            </a:r>
            <a:r>
              <a:rPr lang="en-US" dirty="0"/>
              <a:t>– search for pattern in named file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dirty="0"/>
              <a:t> – works with files having a tabular format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/>
              <a:t> – a greatly extended find and replace program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And MANY more…</a:t>
            </a:r>
          </a:p>
          <a:p>
            <a:pPr lvl="2">
              <a:spcBef>
                <a:spcPts val="12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99F257-072E-EE79-31C6-AEC33201D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257175"/>
            <a:ext cx="7315200" cy="86836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>
              <a:spcBef>
                <a:spcPts val="1200"/>
              </a:spcBef>
            </a:pPr>
            <a:r>
              <a:rPr lang="en-US" dirty="0"/>
              <a:t>Command Line Interface (CLI)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EE6A0A-0C08-5B7F-CD22-D79F95D521AF}"/>
              </a:ext>
            </a:extLst>
          </p:cNvPr>
          <p:cNvSpPr txBox="1"/>
          <p:nvPr/>
        </p:nvSpPr>
        <p:spPr>
          <a:xfrm>
            <a:off x="402772" y="2228671"/>
            <a:ext cx="385354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“Your bioinformatics class actually has been one of the most useful classes in my job, the power of grep, sed and awk has turned me into a scripting wizard at my job, dealing with complex problems”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10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EB0B-C505-457B-B3F1-449C7127E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1886" y="283996"/>
            <a:ext cx="7380514" cy="885451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4400" dirty="0"/>
              <a:t>Navigating the CLI environment</a:t>
            </a:r>
          </a:p>
        </p:txBody>
      </p:sp>
      <p:pic>
        <p:nvPicPr>
          <p:cNvPr id="7" name="Content Placeholder 6" descr="A screenshot of a computer&#10;&#10;Description automatically generated">
            <a:extLst>
              <a:ext uri="{FF2B5EF4-FFF2-40B4-BE49-F238E27FC236}">
                <a16:creationId xmlns:a16="http://schemas.microsoft.com/office/drawing/2014/main" id="{FEEDDE9A-E3DD-3824-59B5-67DFDD23A1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0000" y="5047153"/>
            <a:ext cx="7772400" cy="1088887"/>
          </a:xfrm>
          <a:ln>
            <a:solidFill>
              <a:schemeClr val="tx1"/>
            </a:solidFill>
          </a:ln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DFCD96A1-9CD7-8120-42B9-98A7419B3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2238864"/>
            <a:ext cx="7772400" cy="2632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C932B3-81E8-0DD4-938C-876273A68C52}"/>
              </a:ext>
            </a:extLst>
          </p:cNvPr>
          <p:cNvSpPr txBox="1"/>
          <p:nvPr/>
        </p:nvSpPr>
        <p:spPr>
          <a:xfrm>
            <a:off x="857241" y="6255550"/>
            <a:ext cx="108244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Path to chicken = /Users/</a:t>
            </a:r>
            <a:r>
              <a:rPr lang="en-US" sz="2800" dirty="0" err="1"/>
              <a:t>mfarman</a:t>
            </a:r>
            <a:r>
              <a:rPr lang="en-US" sz="2800" dirty="0"/>
              <a:t>/</a:t>
            </a:r>
            <a:r>
              <a:rPr lang="en-US" sz="2800" dirty="0" err="1"/>
              <a:t>myDirectory</a:t>
            </a:r>
            <a:r>
              <a:rPr lang="en-US" sz="2800" dirty="0"/>
              <a:t>/turkey/duck/chicken/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BC2F-866E-1E61-5C74-AA4DECED4701}"/>
              </a:ext>
            </a:extLst>
          </p:cNvPr>
          <p:cNvSpPr txBox="1"/>
          <p:nvPr/>
        </p:nvSpPr>
        <p:spPr>
          <a:xfrm>
            <a:off x="4201886" y="1288657"/>
            <a:ext cx="76067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GOAL: Build a mental map of directory structure and file paths</a:t>
            </a:r>
          </a:p>
        </p:txBody>
      </p:sp>
    </p:spTree>
    <p:extLst>
      <p:ext uri="{BB962C8B-B14F-4D97-AF65-F5344CB8AC3E}">
        <p14:creationId xmlns:p14="http://schemas.microsoft.com/office/powerpoint/2010/main" val="299895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5245A-6FD8-F024-6F9F-7D5262AA6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202785"/>
            <a:ext cx="7315200" cy="793115"/>
          </a:xfr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Mastering Directory and File Paths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488F5-8AEC-B1FB-E52D-C4C46DAE6705}"/>
              </a:ext>
            </a:extLst>
          </p:cNvPr>
          <p:cNvSpPr txBox="1">
            <a:spLocks/>
          </p:cNvSpPr>
          <p:nvPr/>
        </p:nvSpPr>
        <p:spPr>
          <a:xfrm>
            <a:off x="526359" y="2923275"/>
            <a:ext cx="11139281" cy="36819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300"/>
              </a:spcBef>
            </a:pPr>
            <a:r>
              <a:rPr lang="en-US" dirty="0"/>
              <a:t>It is important to develop a habit of staying in the same directory for a specific task</a:t>
            </a:r>
          </a:p>
          <a:p>
            <a:pPr>
              <a:spcBef>
                <a:spcPts val="1100"/>
              </a:spcBef>
            </a:pPr>
            <a:r>
              <a:rPr lang="en-US" dirty="0"/>
              <a:t>We will use task-specific directories</a:t>
            </a:r>
          </a:p>
          <a:p>
            <a:pPr lvl="1">
              <a:spcBef>
                <a:spcPts val="1100"/>
              </a:spcBef>
            </a:pPr>
            <a:r>
              <a:rPr lang="en-US" dirty="0" err="1"/>
              <a:t>unix</a:t>
            </a:r>
            <a:r>
              <a:rPr lang="en-US" dirty="0"/>
              <a:t>, sequences, assembly, etc.</a:t>
            </a:r>
          </a:p>
          <a:p>
            <a:pPr>
              <a:spcBef>
                <a:spcPts val="1100"/>
              </a:spcBef>
            </a:pPr>
            <a:r>
              <a:rPr lang="en-US" u="sng" dirty="0"/>
              <a:t>Stay in the top-level directory </a:t>
            </a:r>
            <a:r>
              <a:rPr lang="en-US" dirty="0"/>
              <a:t>for each task</a:t>
            </a:r>
          </a:p>
          <a:p>
            <a:pPr>
              <a:spcBef>
                <a:spcPts val="1100"/>
              </a:spcBef>
            </a:pPr>
            <a:r>
              <a:rPr lang="en-US" dirty="0"/>
              <a:t>Opening </a:t>
            </a:r>
            <a:r>
              <a:rPr lang="en-US" i="1" dirty="0" err="1"/>
              <a:t>stuffing.txt</a:t>
            </a:r>
            <a:r>
              <a:rPr lang="en-US" i="1" dirty="0"/>
              <a:t> </a:t>
            </a:r>
            <a:r>
              <a:rPr lang="en-US" dirty="0"/>
              <a:t>file while working in the home directory:</a:t>
            </a:r>
          </a:p>
          <a:p>
            <a:pPr marL="238125" indent="0">
              <a:spcBef>
                <a:spcPts val="1100"/>
              </a:spcBef>
              <a:buNone/>
            </a:pPr>
            <a:r>
              <a:rPr lang="en-US" sz="2400" dirty="0"/>
              <a:t>MacBook-Pro:~ </a:t>
            </a:r>
            <a:r>
              <a:rPr lang="en-US" sz="2400" dirty="0" err="1"/>
              <a:t>mfarman</a:t>
            </a:r>
            <a:r>
              <a:rPr lang="en-US" sz="2400" dirty="0"/>
              <a:t>$ nano </a:t>
            </a:r>
            <a:r>
              <a:rPr lang="en-US" sz="2400" dirty="0" err="1"/>
              <a:t>myDirectory</a:t>
            </a:r>
            <a:r>
              <a:rPr lang="en-US" sz="2400" dirty="0"/>
              <a:t>/turkey/duck/chicken/</a:t>
            </a:r>
            <a:r>
              <a:rPr lang="en-US" sz="2400" dirty="0" err="1"/>
              <a:t>stuffing.txt</a:t>
            </a:r>
            <a:endParaRPr lang="en-US" sz="2400" dirty="0"/>
          </a:p>
          <a:p>
            <a:pPr>
              <a:spcBef>
                <a:spcPts val="1100"/>
              </a:spcBef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D142C12-A1BA-ACC2-6A0F-54F669F8C22E}"/>
              </a:ext>
            </a:extLst>
          </p:cNvPr>
          <p:cNvGrpSpPr/>
          <p:nvPr/>
        </p:nvGrpSpPr>
        <p:grpSpPr>
          <a:xfrm>
            <a:off x="3915776" y="1558023"/>
            <a:ext cx="7723407" cy="1187443"/>
            <a:chOff x="1889442" y="3016567"/>
            <a:chExt cx="5365115" cy="82486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2EFFA3-6D80-959D-1E19-15E46C53F711}"/>
                </a:ext>
              </a:extLst>
            </p:cNvPr>
            <p:cNvSpPr/>
            <p:nvPr/>
          </p:nvSpPr>
          <p:spPr>
            <a:xfrm>
              <a:off x="1889442" y="3016567"/>
              <a:ext cx="5365115" cy="824865"/>
            </a:xfrm>
            <a:prstGeom prst="rect">
              <a:avLst/>
            </a:prstGeom>
            <a:solidFill>
              <a:srgbClr val="FFFFFF"/>
            </a:solidFill>
            <a:ln w="936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spAutoFit/>
            </a:bodyPr>
            <a:lstStyle/>
            <a:p>
              <a:pPr marL="0" marR="0">
                <a:lnSpc>
                  <a:spcPct val="115000"/>
                </a:lnSpc>
                <a:spcAft>
                  <a:spcPts val="1000"/>
                </a:spcAft>
              </a:pPr>
              <a:endParaRPr lang="en-US" sz="1100"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Picture 6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0736DCFE-2FAA-7E60-07BC-07B1973C7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85327" y="3066732"/>
              <a:ext cx="5173345" cy="7245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132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4A13-CA3F-F550-3399-207526A63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136525"/>
            <a:ext cx="7315200" cy="89714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Hints for a Productive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CB51-DE7E-CD07-497F-2EBE856BC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228" y="2081861"/>
            <a:ext cx="7064829" cy="455842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Check boxes identify tasks that </a:t>
            </a:r>
            <a:r>
              <a:rPr lang="en-US" u="sng" dirty="0"/>
              <a:t>must</a:t>
            </a:r>
            <a:r>
              <a:rPr lang="en-US" dirty="0"/>
              <a:t> be completed</a:t>
            </a:r>
          </a:p>
          <a:p>
            <a:r>
              <a:rPr lang="en-US" dirty="0"/>
              <a:t>Commands for running the various programs are provided in boxes</a:t>
            </a:r>
          </a:p>
          <a:p>
            <a:r>
              <a:rPr lang="en-US" dirty="0"/>
              <a:t>Enter all commands that appear in a box </a:t>
            </a:r>
            <a:r>
              <a:rPr lang="en-US" u="sng" dirty="0"/>
              <a:t>on a single line</a:t>
            </a:r>
            <a:r>
              <a:rPr lang="en-US" dirty="0"/>
              <a:t> and only hit return at the end</a:t>
            </a:r>
          </a:p>
          <a:p>
            <a:r>
              <a:rPr lang="en-US" dirty="0"/>
              <a:t>Take your time to read the text between the tasks</a:t>
            </a:r>
          </a:p>
          <a:p>
            <a:pPr lvl="1"/>
            <a:r>
              <a:rPr lang="en-US" dirty="0"/>
              <a:t>It explains what you are doing and why</a:t>
            </a:r>
          </a:p>
          <a:p>
            <a:pPr lvl="1"/>
            <a:r>
              <a:rPr lang="en-US" dirty="0"/>
              <a:t>It explains the options used for the different programs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E9696B-9C76-4073-02B8-C0524A5A7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778" y="1156574"/>
            <a:ext cx="3771769" cy="54837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2043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6571" y="1086857"/>
            <a:ext cx="7576457" cy="2434094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Day 1 is always chaotic: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Students with different experience levels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By Day 3, most students should be navigating the CLI with confidence</a:t>
            </a:r>
          </a:p>
          <a:p>
            <a:pPr>
              <a:spcBef>
                <a:spcPts val="1200"/>
              </a:spcBef>
            </a:pPr>
            <a:r>
              <a:rPr lang="en-US" dirty="0"/>
              <a:t>Hints for a productive time: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Complete all tasks with check boxes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99C3267-3AF3-77AE-6096-BC387F41E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7828" y="252307"/>
            <a:ext cx="7315200" cy="78377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>
              <a:spcBef>
                <a:spcPts val="1200"/>
              </a:spcBef>
            </a:pPr>
            <a:r>
              <a:rPr lang="en-US" dirty="0"/>
              <a:t>Controlling chaos</a:t>
            </a:r>
          </a:p>
        </p:txBody>
      </p:sp>
      <p:pic>
        <p:nvPicPr>
          <p:cNvPr id="2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1F123CA9-79EA-ADF7-11E2-4E4B51313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3564495"/>
            <a:ext cx="8642564" cy="29233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6D83DC69-95FB-F37D-C286-46B22EEE7A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74636" y="3462938"/>
            <a:ext cx="457200" cy="457200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A77714EF-6C87-9A43-9CAC-621B9F3C2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1243" y="4470827"/>
            <a:ext cx="457200" cy="457200"/>
          </a:xfrm>
          <a:prstGeom prst="rect">
            <a:avLst/>
          </a:prstGeom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EAFB7032-F85D-81DE-BC02-6959CE68F0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74636" y="4830248"/>
            <a:ext cx="457200" cy="457200"/>
          </a:xfrm>
          <a:prstGeom prst="rect">
            <a:avLst/>
          </a:prstGeom>
        </p:spPr>
      </p:pic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2A3D0BD0-2346-9124-DB2B-CFB1A2893B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6257" y="5190981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7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EE17B-9B45-927E-3022-CD9D1A82D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3265" y="365125"/>
            <a:ext cx="7642677" cy="843189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Check Boxes Help Troubleshooting</a:t>
            </a:r>
          </a:p>
        </p:txBody>
      </p:sp>
      <p:pic>
        <p:nvPicPr>
          <p:cNvPr id="5" name="Picture 4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A6B627D4-2335-60EB-7C43-434D7B209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265" y="1572986"/>
            <a:ext cx="7772400" cy="48425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8513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6D61D-440B-0E99-E732-AE40DC336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517" y="304800"/>
            <a:ext cx="6069280" cy="799426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Use TAB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3C9C5-18CB-DA04-FFCE-42D65AA3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4517" y="1277472"/>
            <a:ext cx="6483930" cy="5388648"/>
          </a:xfrm>
        </p:spPr>
        <p:txBody>
          <a:bodyPr/>
          <a:lstStyle/>
          <a:p>
            <a:r>
              <a:rPr lang="en-US" dirty="0"/>
              <a:t>It speeds up your work rate</a:t>
            </a:r>
          </a:p>
          <a:p>
            <a:pPr lvl="1"/>
            <a:r>
              <a:rPr lang="en-US" dirty="0"/>
              <a:t>You do not need to type out full commands or directory and file names </a:t>
            </a:r>
          </a:p>
          <a:p>
            <a:r>
              <a:rPr lang="en-US" dirty="0"/>
              <a:t>It helps you avoid spelling errors</a:t>
            </a:r>
          </a:p>
          <a:p>
            <a:pPr lvl="1"/>
            <a:r>
              <a:rPr lang="en-US" dirty="0"/>
              <a:t>Tab completion will not work if you mistype a directory/file name</a:t>
            </a:r>
          </a:p>
          <a:p>
            <a:pPr lvl="1"/>
            <a:r>
              <a:rPr lang="en-US" dirty="0"/>
              <a:t>We purposefully use long file names to encourage you to use TAB completion</a:t>
            </a:r>
          </a:p>
          <a:p>
            <a:r>
              <a:rPr lang="en-US" dirty="0"/>
              <a:t>It helps you navigate the file system</a:t>
            </a:r>
          </a:p>
          <a:p>
            <a:pPr lvl="1"/>
            <a:r>
              <a:rPr lang="en-US" dirty="0"/>
              <a:t>Tab completion fails if you, or a directory/file, are not in the location where you think you/they are</a:t>
            </a:r>
          </a:p>
        </p:txBody>
      </p:sp>
      <p:pic>
        <p:nvPicPr>
          <p:cNvPr id="5" name="Picture 4" descr="A close up of a keyboard&#10;&#10;Description automatically generated">
            <a:extLst>
              <a:ext uri="{FF2B5EF4-FFF2-40B4-BE49-F238E27FC236}">
                <a16:creationId xmlns:a16="http://schemas.microsoft.com/office/drawing/2014/main" id="{8CB02DF2-909D-6B9C-49CB-BDBF2E115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11" y="2250848"/>
            <a:ext cx="4767069" cy="39388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FC586A1-C201-B31A-63EB-64A48BBF6BBF}"/>
              </a:ext>
            </a:extLst>
          </p:cNvPr>
          <p:cNvSpPr/>
          <p:nvPr/>
        </p:nvSpPr>
        <p:spPr>
          <a:xfrm>
            <a:off x="283111" y="4220255"/>
            <a:ext cx="1557564" cy="100488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64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3AACF-E2FE-4F66-D593-59021606F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9551" y="291548"/>
            <a:ext cx="5635528" cy="755374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Use the Up/Down Arrows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88227-34A4-BC83-D12C-5D651704F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0160" y="1215413"/>
            <a:ext cx="5914902" cy="5272644"/>
          </a:xfrm>
        </p:spPr>
        <p:txBody>
          <a:bodyPr/>
          <a:lstStyle/>
          <a:p>
            <a:r>
              <a:rPr lang="en-US" dirty="0"/>
              <a:t>The UNIX CLI keeps track of the commands that you run in a session</a:t>
            </a:r>
          </a:p>
          <a:p>
            <a:r>
              <a:rPr lang="en-US" dirty="0"/>
              <a:t>You can scroll through past commands by using the up and down arrows on your keyboard</a:t>
            </a:r>
          </a:p>
          <a:p>
            <a:r>
              <a:rPr lang="en-US" dirty="0"/>
              <a:t>This saves time when you need to  repeat a command or run another command that is very similar to a previous one</a:t>
            </a:r>
          </a:p>
        </p:txBody>
      </p:sp>
      <p:pic>
        <p:nvPicPr>
          <p:cNvPr id="1026" name="Picture 2" descr="Arrow Keys on the M1 MacBook Air">
            <a:extLst>
              <a:ext uri="{FF2B5EF4-FFF2-40B4-BE49-F238E27FC236}">
                <a16:creationId xmlns:a16="http://schemas.microsoft.com/office/drawing/2014/main" id="{CA53E025-4B49-4065-53CB-7F10B786B0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8" t="2606" r="12525" b="9919"/>
          <a:stretch/>
        </p:blipFill>
        <p:spPr bwMode="auto">
          <a:xfrm>
            <a:off x="386938" y="2544287"/>
            <a:ext cx="4963167" cy="275210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D63C5A8-DEE6-DAD9-F6E2-1A6FDD8B37E1}"/>
              </a:ext>
            </a:extLst>
          </p:cNvPr>
          <p:cNvSpPr/>
          <p:nvPr/>
        </p:nvSpPr>
        <p:spPr>
          <a:xfrm>
            <a:off x="3384467" y="4291507"/>
            <a:ext cx="973777" cy="100488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0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1350</TotalTime>
  <Words>942</Words>
  <Application>Microsoft Macintosh PowerPoint</Application>
  <PresentationFormat>Widescreen</PresentationFormat>
  <Paragraphs>166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Courier New</vt:lpstr>
      <vt:lpstr>Helvetica</vt:lpstr>
      <vt:lpstr>MyriadPro</vt:lpstr>
      <vt:lpstr>Wingdings</vt:lpstr>
      <vt:lpstr>Office Theme</vt:lpstr>
      <vt:lpstr>KY-INBRE Essential Bioinformatics Skills Workshop 2026 </vt:lpstr>
      <vt:lpstr>NGS Data Are Accumulating Faster Than They Can Be Analyzed</vt:lpstr>
      <vt:lpstr>Why is This?</vt:lpstr>
      <vt:lpstr>Essentials Bioinformatics Skills Workshop</vt:lpstr>
      <vt:lpstr>Goals</vt:lpstr>
      <vt:lpstr>Workshop format</vt:lpstr>
      <vt:lpstr>Workshop format (cont.)</vt:lpstr>
      <vt:lpstr>Workshop Resources</vt:lpstr>
      <vt:lpstr>Computing in the Cloud</vt:lpstr>
      <vt:lpstr>Today’s activity: Learning UNIX</vt:lpstr>
      <vt:lpstr>Command Line Interface (CLI)</vt:lpstr>
      <vt:lpstr>Navigating the CLI environment</vt:lpstr>
      <vt:lpstr>Mastering Directory and File Paths</vt:lpstr>
      <vt:lpstr>Hints for a Productive Time</vt:lpstr>
      <vt:lpstr>Controlling chaos</vt:lpstr>
      <vt:lpstr>Check Boxes Help Troubleshooting</vt:lpstr>
      <vt:lpstr>Use TAB Completion</vt:lpstr>
      <vt:lpstr>Use the Up/Down Arrows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Farman, Mark L.</dc:creator>
  <cp:lastModifiedBy>Farman, Mark L.</cp:lastModifiedBy>
  <cp:revision>71</cp:revision>
  <dcterms:created xsi:type="dcterms:W3CDTF">2024-07-20T14:28:13Z</dcterms:created>
  <dcterms:modified xsi:type="dcterms:W3CDTF">2026-06-15T12:22:22Z</dcterms:modified>
</cp:coreProperties>
</file>