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7" r:id="rId2"/>
    <p:sldId id="322" r:id="rId3"/>
    <p:sldId id="279" r:id="rId4"/>
    <p:sldId id="280" r:id="rId5"/>
    <p:sldId id="281" r:id="rId6"/>
    <p:sldId id="282" r:id="rId7"/>
    <p:sldId id="283" r:id="rId8"/>
    <p:sldId id="284" r:id="rId9"/>
    <p:sldId id="286" r:id="rId10"/>
    <p:sldId id="287" r:id="rId11"/>
    <p:sldId id="306" r:id="rId12"/>
    <p:sldId id="307" r:id="rId13"/>
    <p:sldId id="301" r:id="rId14"/>
    <p:sldId id="303" r:id="rId15"/>
    <p:sldId id="308" r:id="rId16"/>
    <p:sldId id="321" r:id="rId17"/>
    <p:sldId id="328" r:id="rId18"/>
    <p:sldId id="298" r:id="rId19"/>
    <p:sldId id="314" r:id="rId20"/>
    <p:sldId id="329" r:id="rId21"/>
    <p:sldId id="309" r:id="rId22"/>
    <p:sldId id="331" r:id="rId23"/>
    <p:sldId id="330" r:id="rId24"/>
    <p:sldId id="30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84" d="100"/>
          <a:sy n="84" d="100"/>
        </p:scale>
        <p:origin x="880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5CCE8-32F2-C149-8DA8-43EFF7672A7B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62724-3D9B-F749-A87A-D0F2A5F18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41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4A4C9-4186-3507-DB15-F87F3D5E5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DC634-3CF8-A18F-47F8-499AD3D0B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77587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1949-6D77-9AF1-9495-086EACF3A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880" y="136525"/>
            <a:ext cx="7315200" cy="7931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EBE52-13E9-49DA-3C7F-4E36AE50E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AA3AD-4747-DD98-3291-B1E0A9DEB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AB567-A2E6-4C66-0069-8982C92C2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C03A6-0F40-E753-9621-9488E6D4D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5F3A3F-4912-C735-0B1D-F3E0A3D3A8EF}"/>
              </a:ext>
            </a:extLst>
          </p:cNvPr>
          <p:cNvSpPr txBox="1"/>
          <p:nvPr userDrawn="1"/>
        </p:nvSpPr>
        <p:spPr>
          <a:xfrm>
            <a:off x="1163782" y="4750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399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4896F-84C6-C91E-ABD1-96F9F2AA4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A77D1-C424-252C-6992-8B6FAE8EF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342FD-A0CA-6515-5DA8-ECDFC87E2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B7864-DEC2-15C3-69BE-1113213C8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638F9-CD6D-A9BF-4A13-E73ED0B2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4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A90D7-BDC7-1C57-8F85-ADB87E6DA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7E670-BDF5-F4DE-A929-59DBA5864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11693-581D-B3A1-A83E-4F355BB2E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F7680-4F22-7953-CBB3-BDBB6B9AC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0CF5B-9E48-B229-F6D9-C47EEAE50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CA669-96C4-AA17-6025-31D2E02F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37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D1C58-954A-B69E-AB23-C418AF334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D0B7B-8E5C-6B0A-EC13-9F829FDB6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9DF8F-D7C3-ADBA-7006-39812F345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357CEC-AD59-8840-64A8-83DA870FB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BCBFC-01BA-3A5F-400C-439F75EF58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C29B65-05D1-FF56-4149-12DF167FB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E58809-7816-C93C-755C-971EDB23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2B01D-E13B-60CD-8930-95622E1D0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32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76152-7D29-F7EF-FB48-23211661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D13E9-772F-C43E-551F-428F4E845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B26495-1384-4813-4C8A-A0AE0011E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603FA3-997B-3F08-4742-42EFCAF1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424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0C20-1E5A-8862-9C09-5C1EA4A20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725766-A74C-E9C9-DC10-B463E87F8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12DBD-5E5E-DE01-88FC-13879732E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19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7D603-5C91-66EF-62C6-3A549E2AC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E14BC-F4A1-4758-DD62-A5C0B695F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9D722E-2B8A-A385-0898-0BFDEE220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2A365-18CB-7D59-3BE4-01AD1BA43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8D8B0-52F8-2050-1ABF-F6B0DE54E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0C1BF-CD3F-C665-7D74-9C1910849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54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8FFDD-EE8F-530D-0654-EA74F7F2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26658B-29DC-1F1E-94EB-99BB942D43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3279A-D6A3-51FC-13A8-5245608F6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C1297-A5CD-40EE-9D3E-D9C169EC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B40B9-45A3-3BD3-F7FA-FE0BE5E94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10809-7694-6AB7-C054-3D8516751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57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F45A9-1D6D-6D9E-7B9D-ACCD1BE83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633063-5AF9-E8B8-36D7-439CEBE4C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3D60B-FD3A-36E3-5408-4B94CAE64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8DA3E-8A00-B0ED-BEF8-3F429C0DE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DAA70-0D17-186C-2F10-89207F8D6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921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BB87EF-E92C-A336-94CF-DE5A771DAE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2B874D-0D30-6685-06E8-FAFB7A666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911F7-B4BD-44C2-783A-1C62875C0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35188-9425-8EBB-EF56-5BC97FED9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11D90-4D96-4B5F-9264-0B61DA93C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016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9220A0-9484-0611-C48B-E869C90B3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9A129-5AFD-C989-1ADA-8C919C1E3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94775"/>
            <a:ext cx="10515600" cy="418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0882F-11EB-62C5-9D73-417B2934E9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7507B-3837-2443-762F-1A0DA5A95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71F6D-57B3-E57E-A944-BD874383DD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word cloud of different colored words&#10;&#10;Description automatically generated">
            <a:extLst>
              <a:ext uri="{FF2B5EF4-FFF2-40B4-BE49-F238E27FC236}">
                <a16:creationId xmlns:a16="http://schemas.microsoft.com/office/drawing/2014/main" id="{359A22C0-1A88-04CD-7090-A9EAA8C135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4724" t="29526" r="4117" b="29279"/>
          <a:stretch/>
        </p:blipFill>
        <p:spPr>
          <a:xfrm>
            <a:off x="59165" y="147283"/>
            <a:ext cx="3861100" cy="17448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C17430-171D-9F77-35A4-92F7D16200D2}"/>
              </a:ext>
            </a:extLst>
          </p:cNvPr>
          <p:cNvSpPr txBox="1"/>
          <p:nvPr userDrawn="1"/>
        </p:nvSpPr>
        <p:spPr>
          <a:xfrm>
            <a:off x="177500" y="249923"/>
            <a:ext cx="1946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KY-INBRE NGS Workshop</a:t>
            </a:r>
          </a:p>
        </p:txBody>
      </p:sp>
    </p:spTree>
    <p:extLst>
      <p:ext uri="{BB962C8B-B14F-4D97-AF65-F5344CB8AC3E}">
        <p14:creationId xmlns:p14="http://schemas.microsoft.com/office/powerpoint/2010/main" val="25852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93/gigascience/giz100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0B524-1359-4F43-B8F3-CB6026FCB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3305" y="2695294"/>
            <a:ext cx="7772400" cy="944336"/>
          </a:xfrm>
          <a:solidFill>
            <a:schemeClr val="bg1">
              <a:lumMod val="75000"/>
            </a:schemeClr>
          </a:solidFill>
          <a:effectLst/>
        </p:spPr>
        <p:txBody>
          <a:bodyPr anchor="ctr">
            <a:normAutofit/>
          </a:bodyPr>
          <a:lstStyle/>
          <a:p>
            <a:pPr lvl="0"/>
            <a:r>
              <a:rPr lang="en-US" sz="4400" dirty="0">
                <a:latin typeface="Mercury Display"/>
              </a:rPr>
              <a:t>Lecture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74B1AC-D29E-B347-BF53-9AC366E4D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78907" y="3984161"/>
            <a:ext cx="6400800" cy="17526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Mercury Display"/>
              </a:rPr>
              <a:t>Genome (Transcriptome) Assembly</a:t>
            </a:r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270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7135-AB6F-8F47-B31A-098196827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8460" y="274638"/>
            <a:ext cx="6032339" cy="875736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Key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C6309-8472-EF42-9025-94376AC19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4288" y="1534767"/>
            <a:ext cx="7500396" cy="4695569"/>
          </a:xfrm>
        </p:spPr>
        <p:txBody>
          <a:bodyPr>
            <a:normAutofit/>
          </a:bodyPr>
          <a:lstStyle/>
          <a:p>
            <a:r>
              <a:rPr lang="en-US" dirty="0"/>
              <a:t>Why sequence assembly is needed</a:t>
            </a:r>
          </a:p>
          <a:p>
            <a:r>
              <a:rPr lang="en-US" dirty="0"/>
              <a:t>Relationship between sequence reads, DNA fragments and original DNA samples</a:t>
            </a:r>
          </a:p>
          <a:p>
            <a:r>
              <a:rPr lang="en-US" dirty="0"/>
              <a:t>The use of paired-end reads for error correction and scaffolding</a:t>
            </a:r>
          </a:p>
          <a:p>
            <a:r>
              <a:rPr lang="en-US" dirty="0"/>
              <a:t> Principles of genome assembly</a:t>
            </a:r>
          </a:p>
          <a:p>
            <a:pPr lvl="1"/>
            <a:r>
              <a:rPr lang="en-US" dirty="0"/>
              <a:t>Overlap layout consensus</a:t>
            </a:r>
          </a:p>
          <a:p>
            <a:pPr lvl="1"/>
            <a:r>
              <a:rPr lang="en-US" dirty="0"/>
              <a:t>De </a:t>
            </a:r>
            <a:r>
              <a:rPr lang="en-US" dirty="0" err="1"/>
              <a:t>Bruijn</a:t>
            </a:r>
            <a:r>
              <a:rPr lang="en-US" dirty="0"/>
              <a:t> graphs</a:t>
            </a:r>
          </a:p>
          <a:p>
            <a:pPr lvl="1"/>
            <a:r>
              <a:rPr lang="en-US" dirty="0"/>
              <a:t>Reference-based assembly</a:t>
            </a:r>
          </a:p>
          <a:p>
            <a:r>
              <a:rPr lang="en-US" dirty="0"/>
              <a:t>Metrics for assessing assembly quality</a:t>
            </a:r>
          </a:p>
        </p:txBody>
      </p:sp>
    </p:spTree>
    <p:extLst>
      <p:ext uri="{BB962C8B-B14F-4D97-AF65-F5344CB8AC3E}">
        <p14:creationId xmlns:p14="http://schemas.microsoft.com/office/powerpoint/2010/main" val="2683804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4758" y="274638"/>
            <a:ext cx="7164731" cy="801808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Goal of Genome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4758" y="1344923"/>
            <a:ext cx="7628684" cy="5127756"/>
          </a:xfrm>
        </p:spPr>
        <p:txBody>
          <a:bodyPr>
            <a:normAutofit/>
          </a:bodyPr>
          <a:lstStyle/>
          <a:p>
            <a:r>
              <a:rPr lang="en-US" dirty="0"/>
              <a:t>To reconstruct long DNA/RNA sequences from short sequence reads</a:t>
            </a:r>
          </a:p>
          <a:p>
            <a:pPr lvl="1"/>
            <a:r>
              <a:rPr lang="en-US" dirty="0"/>
              <a:t>Do novo genome sequencing</a:t>
            </a:r>
          </a:p>
          <a:p>
            <a:pPr lvl="1"/>
            <a:r>
              <a:rPr lang="en-US" dirty="0"/>
              <a:t>Metagenomic sequencing</a:t>
            </a:r>
          </a:p>
          <a:p>
            <a:pPr lvl="1"/>
            <a:r>
              <a:rPr lang="en-US" dirty="0"/>
              <a:t>RNA sequencing for gene discovery</a:t>
            </a:r>
          </a:p>
          <a:p>
            <a:r>
              <a:rPr lang="en-US" dirty="0"/>
              <a:t>But not strictly necessary for </a:t>
            </a:r>
          </a:p>
          <a:p>
            <a:pPr lvl="1"/>
            <a:r>
              <a:rPr lang="en-US" dirty="0"/>
              <a:t>Transcript quantification</a:t>
            </a:r>
          </a:p>
          <a:p>
            <a:pPr lvl="1"/>
            <a:r>
              <a:rPr lang="en-US" dirty="0"/>
              <a:t>Variant discovery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58" y="2052080"/>
            <a:ext cx="3758880" cy="225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26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hear_DNA.ai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90" b="71162"/>
          <a:stretch/>
        </p:blipFill>
        <p:spPr>
          <a:xfrm>
            <a:off x="2988203" y="5888619"/>
            <a:ext cx="8229600" cy="67712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9880" y="186629"/>
            <a:ext cx="7315200" cy="79311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US" sz="4000" dirty="0"/>
              <a:t>Shear the DNA Sample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94E8B-1E4C-234B-89CF-407CFADBC31A}"/>
              </a:ext>
            </a:extLst>
          </p:cNvPr>
          <p:cNvSpPr txBox="1"/>
          <p:nvPr/>
        </p:nvSpPr>
        <p:spPr>
          <a:xfrm>
            <a:off x="4119880" y="1112832"/>
            <a:ext cx="77569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Physical force (shearing, sonication)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Enzymatically (nucleases, transposases)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8B4571-1BB0-4F87-2735-2B9EB56C2E81}"/>
              </a:ext>
            </a:extLst>
          </p:cNvPr>
          <p:cNvSpPr txBox="1"/>
          <p:nvPr/>
        </p:nvSpPr>
        <p:spPr>
          <a:xfrm>
            <a:off x="2223487" y="6037852"/>
            <a:ext cx="2157450" cy="3231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500" dirty="0"/>
              <a:t>chromosome/transcript</a:t>
            </a:r>
          </a:p>
        </p:txBody>
      </p:sp>
      <p:pic>
        <p:nvPicPr>
          <p:cNvPr id="7" name="Content Placeholder 3" descr="Shear_DNA.ai">
            <a:extLst>
              <a:ext uri="{FF2B5EF4-FFF2-40B4-BE49-F238E27FC236}">
                <a16:creationId xmlns:a16="http://schemas.microsoft.com/office/drawing/2014/main" id="{AB423BF8-D88D-19DB-6FD0-4E8BF18FC3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10" b="43223"/>
          <a:stretch/>
        </p:blipFill>
        <p:spPr>
          <a:xfrm>
            <a:off x="2988203" y="4181353"/>
            <a:ext cx="8229600" cy="18230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0A80DBA-2978-C927-DF98-A598FA1FAC9B}"/>
              </a:ext>
            </a:extLst>
          </p:cNvPr>
          <p:cNvSpPr txBox="1"/>
          <p:nvPr/>
        </p:nvSpPr>
        <p:spPr>
          <a:xfrm>
            <a:off x="462987" y="2027749"/>
            <a:ext cx="109720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Tens to millions of copies of each chromosome/transcript in the sample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Shearing is (quasi-)random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Original molecules are represented by a population of overlapping sub-fragments</a:t>
            </a:r>
          </a:p>
        </p:txBody>
      </p:sp>
    </p:spTree>
    <p:extLst>
      <p:ext uri="{BB962C8B-B14F-4D97-AF65-F5344CB8AC3E}">
        <p14:creationId xmlns:p14="http://schemas.microsoft.com/office/powerpoint/2010/main" val="434156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3113" y="200416"/>
            <a:ext cx="8157027" cy="965602"/>
          </a:xfrm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/>
              <a:t>Sequence both Ends of Each Fragment</a:t>
            </a:r>
          </a:p>
        </p:txBody>
      </p:sp>
      <p:pic>
        <p:nvPicPr>
          <p:cNvPr id="6" name="Content Placeholder 5" descr="Sequence_ends.ai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14" b="14414"/>
          <a:stretch>
            <a:fillRect/>
          </a:stretch>
        </p:blipFill>
        <p:spPr>
          <a:xfrm>
            <a:off x="3672214" y="1166018"/>
            <a:ext cx="8229600" cy="45259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0FEEEC-23C8-BF43-8AF2-70F8B6D03E20}"/>
              </a:ext>
            </a:extLst>
          </p:cNvPr>
          <p:cNvSpPr txBox="1"/>
          <p:nvPr/>
        </p:nvSpPr>
        <p:spPr>
          <a:xfrm>
            <a:off x="5673893" y="3986113"/>
            <a:ext cx="1382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Paired-ends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51FDD6-677D-4945-87F3-F09E5427A3B6}"/>
              </a:ext>
            </a:extLst>
          </p:cNvPr>
          <p:cNvSpPr txBox="1"/>
          <p:nvPr/>
        </p:nvSpPr>
        <p:spPr>
          <a:xfrm>
            <a:off x="8425642" y="3986113"/>
            <a:ext cx="1382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Paired-ends</a:t>
            </a:r>
          </a:p>
        </p:txBody>
      </p:sp>
      <p:sp>
        <p:nvSpPr>
          <p:cNvPr id="4" name="Up Arrow 3">
            <a:extLst>
              <a:ext uri="{FF2B5EF4-FFF2-40B4-BE49-F238E27FC236}">
                <a16:creationId xmlns:a16="http://schemas.microsoft.com/office/drawing/2014/main" id="{481AC46A-1DBE-DC46-8AC6-02E4836E7089}"/>
              </a:ext>
            </a:extLst>
          </p:cNvPr>
          <p:cNvSpPr/>
          <p:nvPr/>
        </p:nvSpPr>
        <p:spPr>
          <a:xfrm>
            <a:off x="9499701" y="3673361"/>
            <a:ext cx="72571" cy="348343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Up Arrow 7">
            <a:extLst>
              <a:ext uri="{FF2B5EF4-FFF2-40B4-BE49-F238E27FC236}">
                <a16:creationId xmlns:a16="http://schemas.microsoft.com/office/drawing/2014/main" id="{4F118BA5-2429-394A-86AE-AEF7AFFF9C4F}"/>
              </a:ext>
            </a:extLst>
          </p:cNvPr>
          <p:cNvSpPr/>
          <p:nvPr/>
        </p:nvSpPr>
        <p:spPr>
          <a:xfrm>
            <a:off x="5805815" y="3673361"/>
            <a:ext cx="72571" cy="348343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Up Arrow 8">
            <a:extLst>
              <a:ext uri="{FF2B5EF4-FFF2-40B4-BE49-F238E27FC236}">
                <a16:creationId xmlns:a16="http://schemas.microsoft.com/office/drawing/2014/main" id="{C698AAA6-160F-BE4D-B2B1-DE536EC59CE2}"/>
              </a:ext>
            </a:extLst>
          </p:cNvPr>
          <p:cNvSpPr/>
          <p:nvPr/>
        </p:nvSpPr>
        <p:spPr>
          <a:xfrm>
            <a:off x="6796415" y="3673361"/>
            <a:ext cx="72571" cy="348343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Up Arrow 9">
            <a:extLst>
              <a:ext uri="{FF2B5EF4-FFF2-40B4-BE49-F238E27FC236}">
                <a16:creationId xmlns:a16="http://schemas.microsoft.com/office/drawing/2014/main" id="{38110DFC-45B0-2F4F-8F93-9475A7C9C55B}"/>
              </a:ext>
            </a:extLst>
          </p:cNvPr>
          <p:cNvSpPr/>
          <p:nvPr/>
        </p:nvSpPr>
        <p:spPr>
          <a:xfrm>
            <a:off x="8549015" y="3673361"/>
            <a:ext cx="72571" cy="348343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B39C3B-883B-FE49-8450-5017D6B037D7}"/>
              </a:ext>
            </a:extLst>
          </p:cNvPr>
          <p:cNvSpPr txBox="1"/>
          <p:nvPr/>
        </p:nvSpPr>
        <p:spPr>
          <a:xfrm>
            <a:off x="290186" y="4463827"/>
            <a:ext cx="11611628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Remember, the F and R sequences are read in two distinct phases: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sz="2800" dirty="0"/>
              <a:t>Amplify F strand, </a:t>
            </a:r>
            <a:r>
              <a:rPr lang="en-US" sz="2800" dirty="0">
                <a:solidFill>
                  <a:srgbClr val="00B0F0"/>
                </a:solidFill>
              </a:rPr>
              <a:t>read F strand sequence</a:t>
            </a:r>
            <a:r>
              <a:rPr lang="en-US" sz="2800" dirty="0"/>
              <a:t>, read F barcode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sz="2800" dirty="0"/>
              <a:t>Synthesize R strand, cleave off F strand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sz="2800" dirty="0"/>
              <a:t>Amplify R strand, read R barcode, </a:t>
            </a:r>
            <a:r>
              <a:rPr lang="en-US" sz="2800" dirty="0">
                <a:solidFill>
                  <a:srgbClr val="00B0F0"/>
                </a:solidFill>
              </a:rPr>
              <a:t>read R strand sequence</a:t>
            </a:r>
          </a:p>
        </p:txBody>
      </p:sp>
    </p:spTree>
    <p:extLst>
      <p:ext uri="{BB962C8B-B14F-4D97-AF65-F5344CB8AC3E}">
        <p14:creationId xmlns:p14="http://schemas.microsoft.com/office/powerpoint/2010/main" val="130962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4" grpId="0" animBg="1"/>
      <p:bldP spid="8" grpId="0" animBg="1"/>
      <p:bldP spid="9" grpId="0" animBg="1"/>
      <p:bldP spid="10" grpId="0" animBg="1"/>
      <p:bldP spid="5" grpId="0" build="p" bldLvl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113" y="274639"/>
            <a:ext cx="7880571" cy="98810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US" sz="4000" dirty="0"/>
              <a:t>Collect the Sequence Read Data</a:t>
            </a:r>
          </a:p>
        </p:txBody>
      </p:sp>
      <p:pic>
        <p:nvPicPr>
          <p:cNvPr id="4" name="Content Placeholder 3" descr="End_sequences.ai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14" b="14414"/>
          <a:stretch>
            <a:fillRect/>
          </a:stretch>
        </p:blipFill>
        <p:spPr>
          <a:xfrm>
            <a:off x="1981200" y="2057398"/>
            <a:ext cx="8229600" cy="4525963"/>
          </a:xfrm>
        </p:spPr>
      </p:pic>
    </p:spTree>
    <p:extLst>
      <p:ext uri="{BB962C8B-B14F-4D97-AF65-F5344CB8AC3E}">
        <p14:creationId xmlns:p14="http://schemas.microsoft.com/office/powerpoint/2010/main" val="788995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lign.ai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14" b="51746"/>
          <a:stretch/>
        </p:blipFill>
        <p:spPr>
          <a:xfrm>
            <a:off x="1966065" y="2094976"/>
            <a:ext cx="8234818" cy="198850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9EC826-2D4E-034D-97DF-1054AE9D3524}"/>
              </a:ext>
            </a:extLst>
          </p:cNvPr>
          <p:cNvSpPr txBox="1"/>
          <p:nvPr/>
        </p:nvSpPr>
        <p:spPr>
          <a:xfrm>
            <a:off x="2363168" y="5111813"/>
            <a:ext cx="78377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Contig</a:t>
            </a:r>
            <a:r>
              <a:rPr lang="en-US" sz="2400" dirty="0"/>
              <a:t>: a stretch of </a:t>
            </a:r>
            <a:r>
              <a:rPr lang="en-US" sz="2400" u="sng" dirty="0"/>
              <a:t>contig</a:t>
            </a:r>
            <a:r>
              <a:rPr lang="en-US" sz="2400" dirty="0"/>
              <a:t>uous sequence information that contains no missing nucleotides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09B29B1-985C-BD28-E0D4-5F896A64182D}"/>
              </a:ext>
            </a:extLst>
          </p:cNvPr>
          <p:cNvSpPr txBox="1">
            <a:spLocks/>
          </p:cNvSpPr>
          <p:nvPr/>
        </p:nvSpPr>
        <p:spPr>
          <a:xfrm>
            <a:off x="4146114" y="196168"/>
            <a:ext cx="7741086" cy="12493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Align Overlapping Reads to Form </a:t>
            </a:r>
            <a:r>
              <a:rPr lang="en-US" sz="4000" u="sng" dirty="0"/>
              <a:t>Contigs</a:t>
            </a:r>
          </a:p>
        </p:txBody>
      </p:sp>
    </p:spTree>
    <p:extLst>
      <p:ext uri="{BB962C8B-B14F-4D97-AF65-F5344CB8AC3E}">
        <p14:creationId xmlns:p14="http://schemas.microsoft.com/office/powerpoint/2010/main" val="3299096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3524" y="386492"/>
            <a:ext cx="7638311" cy="1036712"/>
          </a:xfrm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/>
              <a:t>Paired ends allow </a:t>
            </a:r>
            <a:r>
              <a:rPr lang="en-US" u="sng" dirty="0"/>
              <a:t>contigs</a:t>
            </a:r>
            <a:r>
              <a:rPr lang="en-US" dirty="0"/>
              <a:t> to be linked together to make </a:t>
            </a:r>
            <a:r>
              <a:rPr lang="en-US" u="sng" dirty="0"/>
              <a:t>scaffolds</a:t>
            </a:r>
          </a:p>
        </p:txBody>
      </p:sp>
      <p:pic>
        <p:nvPicPr>
          <p:cNvPr id="4" name="Content Placeholder 3" descr="Scaffolds.ai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31" b="14414"/>
          <a:stretch/>
        </p:blipFill>
        <p:spPr>
          <a:xfrm>
            <a:off x="1981200" y="2342367"/>
            <a:ext cx="8229600" cy="3640922"/>
          </a:xfrm>
        </p:spPr>
      </p:pic>
      <p:sp>
        <p:nvSpPr>
          <p:cNvPr id="5" name="Block Arc 4"/>
          <p:cNvSpPr/>
          <p:nvPr/>
        </p:nvSpPr>
        <p:spPr>
          <a:xfrm rot="10800000">
            <a:off x="5159375" y="3730625"/>
            <a:ext cx="1682750" cy="1016000"/>
          </a:xfrm>
          <a:prstGeom prst="blockArc">
            <a:avLst>
              <a:gd name="adj1" fmla="val 10800000"/>
              <a:gd name="adj2" fmla="val 2"/>
              <a:gd name="adj3" fmla="val 807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2365375" y="5111750"/>
            <a:ext cx="7524750" cy="369332"/>
            <a:chOff x="841375" y="5111750"/>
            <a:chExt cx="7524750" cy="369332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1920875" y="5381625"/>
              <a:ext cx="6445250" cy="0"/>
            </a:xfrm>
            <a:prstGeom prst="line">
              <a:avLst/>
            </a:prstGeom>
            <a:ln w="5715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841375" y="5111750"/>
              <a:ext cx="9914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scaffold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825626" y="5032375"/>
            <a:ext cx="8036745" cy="1639332"/>
            <a:chOff x="301625" y="5032375"/>
            <a:chExt cx="8036745" cy="1639332"/>
          </a:xfrm>
        </p:grpSpPr>
        <p:grpSp>
          <p:nvGrpSpPr>
            <p:cNvPr id="21" name="Group 20"/>
            <p:cNvGrpSpPr/>
            <p:nvPr/>
          </p:nvGrpSpPr>
          <p:grpSpPr>
            <a:xfrm>
              <a:off x="571500" y="5032375"/>
              <a:ext cx="7766870" cy="1639332"/>
              <a:chOff x="571500" y="5032375"/>
              <a:chExt cx="7766870" cy="1639332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571500" y="6302375"/>
                <a:ext cx="7766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urier New"/>
                    <a:cs typeface="Courier New"/>
                  </a:rPr>
                  <a:t>…AGTCCCCTGGGAGATACGNNNNNNNNNNNNNNGATGATCAGCCGCATGAGCAG…</a:t>
                </a:r>
              </a:p>
            </p:txBody>
          </p:sp>
          <p:grpSp>
            <p:nvGrpSpPr>
              <p:cNvPr id="20" name="Group 19"/>
              <p:cNvGrpSpPr/>
              <p:nvPr/>
            </p:nvGrpSpPr>
            <p:grpSpPr>
              <a:xfrm>
                <a:off x="4143375" y="5032375"/>
                <a:ext cx="714375" cy="1270000"/>
                <a:chOff x="4143375" y="5032375"/>
                <a:chExt cx="714375" cy="1270000"/>
              </a:xfrm>
            </p:grpSpPr>
            <p:sp>
              <p:nvSpPr>
                <p:cNvPr id="12" name="Oval 11"/>
                <p:cNvSpPr/>
                <p:nvPr/>
              </p:nvSpPr>
              <p:spPr>
                <a:xfrm>
                  <a:off x="4143375" y="5032375"/>
                  <a:ext cx="714375" cy="68262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8" name="Straight Connector 17"/>
                <p:cNvCxnSpPr>
                  <a:endCxn id="12" idx="4"/>
                </p:cNvCxnSpPr>
                <p:nvPr/>
              </p:nvCxnSpPr>
              <p:spPr>
                <a:xfrm flipV="1">
                  <a:off x="4381500" y="5715000"/>
                  <a:ext cx="119063" cy="587375"/>
                </a:xfrm>
                <a:prstGeom prst="line">
                  <a:avLst/>
                </a:prstGeom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2" name="TextBox 21"/>
            <p:cNvSpPr txBox="1"/>
            <p:nvPr/>
          </p:nvSpPr>
          <p:spPr>
            <a:xfrm>
              <a:off x="301625" y="5683250"/>
              <a:ext cx="27039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 the sequence file, gaps</a:t>
              </a:r>
            </a:p>
            <a:p>
              <a:r>
                <a:rPr lang="en-US" dirty="0"/>
                <a:t>are represented with Ns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809750" y="3730625"/>
            <a:ext cx="7874000" cy="1004332"/>
            <a:chOff x="285750" y="3730625"/>
            <a:chExt cx="7874000" cy="1004332"/>
          </a:xfrm>
        </p:grpSpPr>
        <p:sp>
          <p:nvSpPr>
            <p:cNvPr id="6" name="Block Arc 5"/>
            <p:cNvSpPr/>
            <p:nvPr/>
          </p:nvSpPr>
          <p:spPr>
            <a:xfrm rot="10800000">
              <a:off x="5365750" y="3730625"/>
              <a:ext cx="841375" cy="1000125"/>
            </a:xfrm>
            <a:prstGeom prst="blockArc">
              <a:avLst>
                <a:gd name="adj1" fmla="val 10800000"/>
                <a:gd name="adj2" fmla="val 2"/>
                <a:gd name="adj3" fmla="val 8077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Block Arc 6"/>
            <p:cNvSpPr/>
            <p:nvPr/>
          </p:nvSpPr>
          <p:spPr>
            <a:xfrm rot="10800000">
              <a:off x="6302375" y="3730625"/>
              <a:ext cx="841375" cy="1000125"/>
            </a:xfrm>
            <a:prstGeom prst="blockArc">
              <a:avLst>
                <a:gd name="adj1" fmla="val 10800000"/>
                <a:gd name="adj2" fmla="val 2"/>
                <a:gd name="adj3" fmla="val 8077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Block Arc 7"/>
            <p:cNvSpPr/>
            <p:nvPr/>
          </p:nvSpPr>
          <p:spPr>
            <a:xfrm rot="10800000">
              <a:off x="7318375" y="3730625"/>
              <a:ext cx="841375" cy="1000125"/>
            </a:xfrm>
            <a:prstGeom prst="blockArc">
              <a:avLst>
                <a:gd name="adj1" fmla="val 10800000"/>
                <a:gd name="adj2" fmla="val 2"/>
                <a:gd name="adj3" fmla="val 8077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85750" y="4365625"/>
              <a:ext cx="16099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captured gaps</a:t>
              </a:r>
            </a:p>
          </p:txBody>
        </p:sp>
      </p:grpSp>
      <p:pic>
        <p:nvPicPr>
          <p:cNvPr id="13" name="Content Placeholder 3" descr="Scaffolds.ai">
            <a:extLst>
              <a:ext uri="{FF2B5EF4-FFF2-40B4-BE49-F238E27FC236}">
                <a16:creationId xmlns:a16="http://schemas.microsoft.com/office/drawing/2014/main" id="{CAA77264-34F0-7643-BFF1-266E056188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14" b="75849"/>
          <a:stretch/>
        </p:blipFill>
        <p:spPr>
          <a:xfrm>
            <a:off x="1981200" y="1691493"/>
            <a:ext cx="8229600" cy="61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806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321" y="2166068"/>
            <a:ext cx="3829268" cy="1679422"/>
          </a:xfrm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/>
              <a:t>Genome</a:t>
            </a:r>
            <a:br>
              <a:rPr lang="en-US" dirty="0"/>
            </a:br>
            <a:r>
              <a:rPr lang="en-US" dirty="0"/>
              <a:t>Assemblers</a:t>
            </a:r>
            <a:br>
              <a:rPr lang="en-US" dirty="0"/>
            </a:br>
            <a:r>
              <a:rPr lang="en-US" dirty="0"/>
              <a:t>Galore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684788" y="222251"/>
          <a:ext cx="5764608" cy="6349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756400" imgH="7442200" progId="Excel.Sheet.12">
                  <p:embed/>
                </p:oleObj>
              </mc:Choice>
              <mc:Fallback>
                <p:oleObj name="Worksheet" r:id="rId2" imgW="6756400" imgH="7442200" progId="Excel.Sheet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84788" y="222251"/>
                        <a:ext cx="5764608" cy="63499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ight Arrow 2">
            <a:extLst>
              <a:ext uri="{FF2B5EF4-FFF2-40B4-BE49-F238E27FC236}">
                <a16:creationId xmlns:a16="http://schemas.microsoft.com/office/drawing/2014/main" id="{3B5A8F5A-7768-3A85-8FDF-CFA62659212B}"/>
              </a:ext>
            </a:extLst>
          </p:cNvPr>
          <p:cNvSpPr/>
          <p:nvPr/>
        </p:nvSpPr>
        <p:spPr>
          <a:xfrm>
            <a:off x="3745282" y="6313118"/>
            <a:ext cx="776614" cy="33428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81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i="1" dirty="0"/>
              <a:t>De Novo</a:t>
            </a:r>
            <a:r>
              <a:rPr lang="en-US" dirty="0"/>
              <a:t> Genome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804" y="2048016"/>
            <a:ext cx="6790151" cy="4182187"/>
          </a:xfrm>
        </p:spPr>
        <p:txBody>
          <a:bodyPr>
            <a:normAutofit/>
          </a:bodyPr>
          <a:lstStyle/>
          <a:p>
            <a:r>
              <a:rPr lang="en-US" dirty="0"/>
              <a:t>Two major strategies:</a:t>
            </a:r>
          </a:p>
          <a:p>
            <a:r>
              <a:rPr lang="en-US" dirty="0"/>
              <a:t>Overlap Layout Consensus</a:t>
            </a:r>
          </a:p>
          <a:p>
            <a:pPr lvl="1"/>
            <a:r>
              <a:rPr lang="en-US" dirty="0"/>
              <a:t>Long reads ≥ 250 </a:t>
            </a:r>
            <a:r>
              <a:rPr lang="en-US" dirty="0" err="1"/>
              <a:t>bp</a:t>
            </a:r>
            <a:endParaRPr lang="en-US" dirty="0"/>
          </a:p>
          <a:p>
            <a:pPr lvl="1"/>
            <a:r>
              <a:rPr lang="en-US" dirty="0"/>
              <a:t>Pairwise comparison of reads to identify overlaps</a:t>
            </a:r>
          </a:p>
          <a:p>
            <a:r>
              <a:rPr lang="en-US" dirty="0" err="1"/>
              <a:t>Eulerian</a:t>
            </a:r>
            <a:r>
              <a:rPr lang="en-US" dirty="0"/>
              <a:t> paths/de Bruin graphs</a:t>
            </a:r>
          </a:p>
          <a:p>
            <a:pPr lvl="1"/>
            <a:r>
              <a:rPr lang="en-US" dirty="0"/>
              <a:t>Short reads ≤ 250 </a:t>
            </a:r>
            <a:r>
              <a:rPr lang="en-US" dirty="0" err="1"/>
              <a:t>bp</a:t>
            </a:r>
            <a:endParaRPr lang="en-US" dirty="0"/>
          </a:p>
          <a:p>
            <a:pPr lvl="1"/>
            <a:r>
              <a:rPr lang="en-US" dirty="0"/>
              <a:t>Cataloging of subsequences (k-</a:t>
            </a:r>
            <a:r>
              <a:rPr lang="en-US" dirty="0" err="1"/>
              <a:t>mers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Reconstruction of paths through the k-</a:t>
            </a:r>
            <a:r>
              <a:rPr lang="en-US" dirty="0" err="1"/>
              <a:t>mers</a:t>
            </a:r>
            <a:endParaRPr lang="en-US" dirty="0"/>
          </a:p>
          <a:p>
            <a:pPr lvl="1"/>
            <a:endParaRPr lang="en-US" dirty="0"/>
          </a:p>
          <a:p>
            <a:pPr marL="5715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BC471F-7211-11BD-47EE-87106C459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2709" y="3680716"/>
            <a:ext cx="3561902" cy="26714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D7A722-9A1B-40EC-42A1-1F9CC55E60F2}"/>
              </a:ext>
            </a:extLst>
          </p:cNvPr>
          <p:cNvSpPr txBox="1"/>
          <p:nvPr/>
        </p:nvSpPr>
        <p:spPr>
          <a:xfrm>
            <a:off x="9066882" y="6352143"/>
            <a:ext cx="1753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Debruin Graphs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2BE660-C6AA-B196-DB5E-DD1B87C4C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478" y="1145689"/>
            <a:ext cx="2280063" cy="203159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2E5A6F3-36F4-648B-6CB0-E2690B36AE9E}"/>
              </a:ext>
            </a:extLst>
          </p:cNvPr>
          <p:cNvSpPr/>
          <p:nvPr/>
        </p:nvSpPr>
        <p:spPr>
          <a:xfrm>
            <a:off x="8295702" y="1329205"/>
            <a:ext cx="539827" cy="367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69FE87-A7C6-08A4-74BD-B3162A4C038F}"/>
              </a:ext>
            </a:extLst>
          </p:cNvPr>
          <p:cNvSpPr txBox="1"/>
          <p:nvPr/>
        </p:nvSpPr>
        <p:spPr>
          <a:xfrm>
            <a:off x="8365329" y="3126718"/>
            <a:ext cx="2859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 Layout Consensus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15CA26-14A2-46F8-C751-58AF65A4EEAD}"/>
              </a:ext>
            </a:extLst>
          </p:cNvPr>
          <p:cNvSpPr txBox="1"/>
          <p:nvPr/>
        </p:nvSpPr>
        <p:spPr>
          <a:xfrm rot="16200000">
            <a:off x="10374318" y="1930653"/>
            <a:ext cx="3149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https://</a:t>
            </a:r>
            <a:r>
              <a:rPr lang="en-US" sz="800" dirty="0" err="1"/>
              <a:t>www.slideserve.com</a:t>
            </a:r>
            <a:r>
              <a:rPr lang="en-US" sz="800" dirty="0"/>
              <a:t>/</a:t>
            </a:r>
            <a:r>
              <a:rPr lang="en-US" sz="800" dirty="0" err="1"/>
              <a:t>nmaddox</a:t>
            </a:r>
            <a:r>
              <a:rPr lang="en-US" sz="800" dirty="0"/>
              <a:t>/csci2950-c-lecture-3-dna-sequencing-and-fragment-assembly-powerpoint-ppt-presentation#google_vignette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890BD6-F98C-3641-2070-365026D668E3}"/>
              </a:ext>
            </a:extLst>
          </p:cNvPr>
          <p:cNvSpPr txBox="1"/>
          <p:nvPr/>
        </p:nvSpPr>
        <p:spPr>
          <a:xfrm rot="16200000">
            <a:off x="10852375" y="4847151"/>
            <a:ext cx="21179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https://</a:t>
            </a:r>
            <a:r>
              <a:rPr lang="en-US" sz="800" dirty="0" err="1"/>
              <a:t>en.wikipedia.org</a:t>
            </a:r>
            <a:r>
              <a:rPr lang="en-US" sz="800" dirty="0"/>
              <a:t>/wiki/</a:t>
            </a:r>
            <a:r>
              <a:rPr lang="en-US" sz="800" dirty="0" err="1"/>
              <a:t>De_Bruijn_graph</a:t>
            </a:r>
            <a:r>
              <a:rPr lang="en-US" sz="800" dirty="0"/>
              <a:t>#/media/</a:t>
            </a:r>
            <a:r>
              <a:rPr lang="en-US" sz="800" dirty="0" err="1"/>
              <a:t>File:De_Bruijn_binary_graph.svg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570452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3378" y="162046"/>
            <a:ext cx="7944863" cy="97155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US" sz="4000" dirty="0"/>
              <a:t>Overlap Layout Consensus</a:t>
            </a:r>
            <a:br>
              <a:rPr lang="en-US" dirty="0"/>
            </a:br>
            <a:r>
              <a:rPr lang="en-US" sz="1800" dirty="0"/>
              <a:t>From: Computational Genome Analysis: An Introduction; </a:t>
            </a:r>
            <a:r>
              <a:rPr lang="en-US" sz="1800" dirty="0" err="1"/>
              <a:t>Deonier</a:t>
            </a:r>
            <a:r>
              <a:rPr lang="en-US" sz="1800" dirty="0"/>
              <a:t> et al.</a:t>
            </a:r>
            <a:endParaRPr lang="en-US" dirty="0"/>
          </a:p>
        </p:txBody>
      </p:sp>
      <p:pic>
        <p:nvPicPr>
          <p:cNvPr id="6" name="Picture 5" descr="Screen_shot_2012-07-16_at_11_39_37_AM__10_documents__10_total_pages_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9"/>
          <a:stretch/>
        </p:blipFill>
        <p:spPr>
          <a:xfrm>
            <a:off x="4033379" y="1254758"/>
            <a:ext cx="7944863" cy="9715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Screen_shot_2012-07-16_at_11_39_56_AM__10_documents__10_total_pages_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411" y="2100995"/>
            <a:ext cx="2730500" cy="45339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41355" y="2703959"/>
            <a:ext cx="7776344" cy="3670474"/>
          </a:xfrm>
        </p:spPr>
        <p:txBody>
          <a:bodyPr>
            <a:normAutofit/>
          </a:bodyPr>
          <a:lstStyle/>
          <a:p>
            <a:r>
              <a:rPr lang="en-US" dirty="0"/>
              <a:t>Fragment DNA</a:t>
            </a:r>
          </a:p>
          <a:p>
            <a:r>
              <a:rPr lang="en-US" dirty="0"/>
              <a:t>Sequence fragments</a:t>
            </a:r>
          </a:p>
          <a:p>
            <a:r>
              <a:rPr lang="en-US" dirty="0"/>
              <a:t>Compare all sequence reads in pairwise fashion</a:t>
            </a:r>
          </a:p>
          <a:p>
            <a:r>
              <a:rPr lang="en-US" dirty="0"/>
              <a:t>Calculate number of overlapping bases</a:t>
            </a:r>
          </a:p>
          <a:p>
            <a:r>
              <a:rPr lang="en-US" dirty="0"/>
              <a:t>Build a matrix</a:t>
            </a:r>
          </a:p>
        </p:txBody>
      </p:sp>
    </p:spTree>
    <p:extLst>
      <p:ext uri="{BB962C8B-B14F-4D97-AF65-F5344CB8AC3E}">
        <p14:creationId xmlns:p14="http://schemas.microsoft.com/office/powerpoint/2010/main" val="1451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4567984" y="1006998"/>
            <a:ext cx="6481823" cy="57063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7984" y="130698"/>
            <a:ext cx="6481822" cy="76676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Overlap Matrix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4906462" y="1059725"/>
            <a:ext cx="6057900" cy="5638800"/>
            <a:chOff x="1403350" y="1549400"/>
            <a:chExt cx="6057900" cy="5638800"/>
          </a:xfrm>
          <a:effectLst/>
        </p:grpSpPr>
        <p:pic>
          <p:nvPicPr>
            <p:cNvPr id="6" name="Picture 5" descr="Screen_shot_2012-07-16_at_11_40_09_AM__10_documents__10_total_pages_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3350" y="1549400"/>
              <a:ext cx="6057900" cy="47625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" name="Picture 6" descr="Screen_shot_2012-07-16_at_11_40_14_AM__10_documents__10_total_pages_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6050" y="6261100"/>
              <a:ext cx="6032500" cy="92710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3" name="TextBox 2"/>
          <p:cNvSpPr txBox="1"/>
          <p:nvPr/>
        </p:nvSpPr>
        <p:spPr>
          <a:xfrm>
            <a:off x="4653330" y="134793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53330" y="160700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53330" y="18660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3330" y="212513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3330" y="238420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3330" y="264326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3330" y="290233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3330" y="31614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3330" y="34204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312" y="367953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6312" y="3938604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6312" y="419767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6312" y="445673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6312" y="471580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6312" y="497487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6312" y="523393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6312" y="549300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6312" y="575207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6312" y="601114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6312" y="627021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5865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9880" y="136525"/>
            <a:ext cx="7315200" cy="98259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US" sz="4000" dirty="0"/>
              <a:t>Determine Layout of Overlaps</a:t>
            </a:r>
            <a:br>
              <a:rPr lang="en-US" dirty="0"/>
            </a:br>
            <a:r>
              <a:rPr lang="en-US" sz="1800" dirty="0"/>
              <a:t>From: Computational Genome Analysis: An Introduction; </a:t>
            </a:r>
            <a:r>
              <a:rPr lang="en-US" sz="1800" dirty="0" err="1"/>
              <a:t>Deonier</a:t>
            </a:r>
            <a:r>
              <a:rPr lang="en-US" sz="1800" dirty="0"/>
              <a:t> et al.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5138" y="1650992"/>
            <a:ext cx="6954921" cy="1312333"/>
          </a:xfrm>
        </p:spPr>
        <p:txBody>
          <a:bodyPr/>
          <a:lstStyle/>
          <a:p>
            <a:r>
              <a:rPr lang="en-US" dirty="0"/>
              <a:t>Examine best overlaps</a:t>
            </a:r>
          </a:p>
          <a:p>
            <a:r>
              <a:rPr lang="en-US" dirty="0"/>
              <a:t>Determine their layout</a:t>
            </a:r>
          </a:p>
          <a:p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1125643" y="3296326"/>
            <a:ext cx="3756915" cy="2031325"/>
            <a:chOff x="2280054" y="2895583"/>
            <a:chExt cx="3756915" cy="2031325"/>
          </a:xfrm>
        </p:grpSpPr>
        <p:sp>
          <p:nvSpPr>
            <p:cNvPr id="6" name="TextBox 5"/>
            <p:cNvSpPr txBox="1"/>
            <p:nvPr/>
          </p:nvSpPr>
          <p:spPr>
            <a:xfrm>
              <a:off x="3081863" y="2895583"/>
              <a:ext cx="2955106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latin typeface="Courier New"/>
                  <a:cs typeface="Courier New"/>
                </a:rPr>
                <a:t>GCATCGTG</a:t>
              </a:r>
            </a:p>
            <a:p>
              <a:r>
                <a:rPr lang="en-US" sz="3600" dirty="0">
                  <a:latin typeface="Courier New"/>
                  <a:cs typeface="Courier New"/>
                </a:rPr>
                <a:t> CATCGTGA</a:t>
              </a:r>
            </a:p>
            <a:p>
              <a:r>
                <a:rPr lang="en-US" sz="3600" dirty="0">
                  <a:latin typeface="Courier New"/>
                  <a:cs typeface="Courier New"/>
                </a:rPr>
                <a:t>  ATCGTGAT</a:t>
              </a:r>
            </a:p>
            <a:p>
              <a:r>
                <a:rPr lang="en-US" dirty="0"/>
                <a:t> 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681768" y="3523737"/>
              <a:ext cx="4796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1.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906236" y="4097869"/>
              <a:ext cx="6719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12.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280054" y="2980269"/>
              <a:ext cx="6719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14.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468738" y="3296326"/>
            <a:ext cx="3347703" cy="1292662"/>
            <a:chOff x="2895600" y="4926908"/>
            <a:chExt cx="3347703" cy="1292662"/>
          </a:xfrm>
        </p:grpSpPr>
        <p:sp>
          <p:nvSpPr>
            <p:cNvPr id="10" name="TextBox 9"/>
            <p:cNvSpPr txBox="1"/>
            <p:nvPr/>
          </p:nvSpPr>
          <p:spPr>
            <a:xfrm>
              <a:off x="3545529" y="4926908"/>
              <a:ext cx="242887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latin typeface="Courier New"/>
                  <a:cs typeface="Courier New"/>
                </a:rPr>
                <a:t>AAGTGAAA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829461" y="5573239"/>
              <a:ext cx="241384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dirty="0">
                  <a:solidFill>
                    <a:prstClr val="black"/>
                  </a:solidFill>
                  <a:latin typeface="Courier New"/>
                  <a:cs typeface="Courier New"/>
                </a:rPr>
                <a:t>AGTGAAAC</a:t>
              </a:r>
              <a:endParaRPr lang="en-US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895600" y="5029200"/>
              <a:ext cx="6719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20.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288123" y="5662484"/>
              <a:ext cx="6719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17.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426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1247" y="274638"/>
            <a:ext cx="7412801" cy="1143000"/>
          </a:xfrm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/>
              <a:t>Add “Weaker” Overlaps and Write Consensus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50396" y="6336267"/>
            <a:ext cx="718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From: Computational Genome Analysis: An Introduction; </a:t>
            </a:r>
            <a:r>
              <a:rPr lang="en-US" dirty="0" err="1"/>
              <a:t>Deonier</a:t>
            </a:r>
            <a:r>
              <a:rPr lang="en-US" dirty="0"/>
              <a:t> et 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1248" y="1797073"/>
            <a:ext cx="4134465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 New" charset="0"/>
                <a:ea typeface="Courier New" charset="0"/>
                <a:cs typeface="Courier New" charset="0"/>
              </a:rPr>
              <a:t>	</a:t>
            </a:r>
            <a:r>
              <a:rPr lang="en-US" sz="3200" u="sng" dirty="0">
                <a:latin typeface="Courier New" charset="0"/>
                <a:ea typeface="Courier New" charset="0"/>
                <a:cs typeface="Courier New" charset="0"/>
              </a:rPr>
              <a:t>GAC</a:t>
            </a:r>
            <a:r>
              <a:rPr lang="en-US" sz="3200" dirty="0">
                <a:latin typeface="Courier New" charset="0"/>
                <a:ea typeface="Courier New" charset="0"/>
                <a:cs typeface="Courier New" charset="0"/>
              </a:rPr>
              <a:t>CGCAT</a:t>
            </a:r>
          </a:p>
          <a:p>
            <a:r>
              <a:rPr lang="en-US" sz="3200" dirty="0">
                <a:latin typeface="Courier New" charset="0"/>
                <a:ea typeface="Courier New" charset="0"/>
                <a:cs typeface="Courier New" charset="0"/>
              </a:rPr>
              <a:t>  </a:t>
            </a:r>
            <a:r>
              <a:rPr lang="en-US" sz="3200" u="sng" dirty="0">
                <a:latin typeface="Courier New" charset="0"/>
                <a:ea typeface="Courier New" charset="0"/>
                <a:cs typeface="Courier New" charset="0"/>
              </a:rPr>
              <a:t>ATG</a:t>
            </a:r>
            <a:r>
              <a:rPr lang="en-US" sz="3200" dirty="0">
                <a:latin typeface="Courier New" charset="0"/>
                <a:ea typeface="Courier New" charset="0"/>
                <a:cs typeface="Courier New" charset="0"/>
              </a:rPr>
              <a:t>CGCAT</a:t>
            </a:r>
          </a:p>
          <a:p>
            <a:r>
              <a:rPr lang="en-US" sz="3200" dirty="0">
                <a:latin typeface="Courier New" charset="0"/>
                <a:ea typeface="Courier New" charset="0"/>
                <a:cs typeface="Courier New" charset="0"/>
              </a:rPr>
              <a:t>      GCATCGTG</a:t>
            </a:r>
          </a:p>
          <a:p>
            <a:r>
              <a:rPr lang="en-US" sz="3200" dirty="0">
                <a:latin typeface="Courier New" charset="0"/>
                <a:ea typeface="Courier New" charset="0"/>
                <a:cs typeface="Courier New" charset="0"/>
              </a:rPr>
              <a:t>       CATCGTGA</a:t>
            </a:r>
          </a:p>
          <a:p>
            <a:r>
              <a:rPr lang="en-US" sz="3200" dirty="0">
                <a:latin typeface="Courier New" charset="0"/>
                <a:ea typeface="Courier New" charset="0"/>
                <a:cs typeface="Courier New" charset="0"/>
              </a:rPr>
              <a:t>        ATCGTGAT</a:t>
            </a:r>
          </a:p>
          <a:p>
            <a:r>
              <a:rPr lang="en-US" sz="3200" dirty="0"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US" sz="3200" u="sng" dirty="0">
                <a:latin typeface="Courier New" charset="0"/>
                <a:ea typeface="Courier New" charset="0"/>
                <a:cs typeface="Courier New" charset="0"/>
              </a:rPr>
              <a:t>G</a:t>
            </a:r>
            <a:r>
              <a:rPr lang="en-US" sz="3200" dirty="0">
                <a:latin typeface="Courier New" charset="0"/>
                <a:ea typeface="Courier New" charset="0"/>
                <a:cs typeface="Courier New" charset="0"/>
              </a:rPr>
              <a:t>CGCATCG</a:t>
            </a:r>
          </a:p>
          <a:p>
            <a:r>
              <a:rPr lang="en-US" sz="3200" dirty="0">
                <a:latin typeface="Courier New" charset="0"/>
                <a:ea typeface="Courier New" charset="0"/>
                <a:cs typeface="Courier New" charset="0"/>
              </a:rPr>
              <a:t>CG</a:t>
            </a:r>
            <a:r>
              <a:rPr lang="en-US" sz="3200" u="sng" dirty="0">
                <a:latin typeface="Courier New" charset="0"/>
                <a:ea typeface="Courier New" charset="0"/>
                <a:cs typeface="Courier New" charset="0"/>
              </a:rPr>
              <a:t>CAG</a:t>
            </a:r>
            <a:r>
              <a:rPr lang="en-US" sz="3200" dirty="0">
                <a:latin typeface="Courier New" charset="0"/>
                <a:ea typeface="Courier New" charset="0"/>
                <a:cs typeface="Courier New" charset="0"/>
              </a:rPr>
              <a:t>CGC</a:t>
            </a:r>
          </a:p>
          <a:p>
            <a:r>
              <a:rPr lang="en-US" sz="3200" dirty="0"/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698" y="5332090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Courier New" charset="0"/>
                <a:ea typeface="Courier New" charset="0"/>
                <a:cs typeface="Courier New" charset="0"/>
              </a:rPr>
              <a:t>GCGCATCGTGAT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4279900" y="5357489"/>
            <a:ext cx="401581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18599" y="5380783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Consensus:</a:t>
            </a:r>
          </a:p>
        </p:txBody>
      </p:sp>
    </p:spTree>
    <p:extLst>
      <p:ext uri="{BB962C8B-B14F-4D97-AF65-F5344CB8AC3E}">
        <p14:creationId xmlns:p14="http://schemas.microsoft.com/office/powerpoint/2010/main" val="2962489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0151" y="160338"/>
            <a:ext cx="7374001" cy="906462"/>
          </a:xfrm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/>
              <a:t>OLC is computationally expensive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609052" y="2167566"/>
            <a:ext cx="4762499" cy="4391981"/>
            <a:chOff x="1403350" y="1549400"/>
            <a:chExt cx="6057900" cy="5638800"/>
          </a:xfrm>
        </p:grpSpPr>
        <p:pic>
          <p:nvPicPr>
            <p:cNvPr id="6" name="Picture 5" descr="Screen_shot_2012-07-16_at_11_40_09_AM__10_documents__10_total_pages_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3350" y="1549400"/>
              <a:ext cx="6057900" cy="4762500"/>
            </a:xfrm>
            <a:prstGeom prst="rect">
              <a:avLst/>
            </a:prstGeom>
          </p:spPr>
        </p:pic>
        <p:pic>
          <p:nvPicPr>
            <p:cNvPr id="7" name="Picture 6" descr="Screen_shot_2012-07-16_at_11_40_14_AM__10_documents__10_total_pages_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6050" y="6261100"/>
              <a:ext cx="6032500" cy="927100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4250152" y="1254116"/>
            <a:ext cx="76357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/>
              <a:t>20 reads requires (20 x 20) </a:t>
            </a:r>
            <a:r>
              <a:rPr lang="mr-IN" sz="2400" dirty="0"/>
              <a:t>–</a:t>
            </a:r>
            <a:r>
              <a:rPr lang="en-US" sz="2400" dirty="0"/>
              <a:t> 20 = 380 comparisons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/>
              <a:t>What about a “small” assembly with 10 million reads?</a:t>
            </a:r>
          </a:p>
        </p:txBody>
      </p:sp>
    </p:spTree>
    <p:extLst>
      <p:ext uri="{BB962C8B-B14F-4D97-AF65-F5344CB8AC3E}">
        <p14:creationId xmlns:p14="http://schemas.microsoft.com/office/powerpoint/2010/main" val="722058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1270" y="274639"/>
            <a:ext cx="6914368" cy="968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De Bruin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3578" y="1443039"/>
            <a:ext cx="7267529" cy="4525963"/>
          </a:xfrm>
        </p:spPr>
        <p:txBody>
          <a:bodyPr/>
          <a:lstStyle/>
          <a:p>
            <a:r>
              <a:rPr lang="en-US" dirty="0"/>
              <a:t>“A directed graph representing overlaps between sequences of symbols” (Wikipedia)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423" y="2392239"/>
            <a:ext cx="4157241" cy="311793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86311" y="2337259"/>
            <a:ext cx="601884" cy="24306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72320" y="2365836"/>
            <a:ext cx="601884" cy="24306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093578" y="2638202"/>
            <a:ext cx="2341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 each vertex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9264" y="2638202"/>
            <a:ext cx="2230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 each edge once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DF34ED-F3EF-AF45-9D72-9B5677A04F08}"/>
              </a:ext>
            </a:extLst>
          </p:cNvPr>
          <p:cNvSpPr txBox="1"/>
          <p:nvPr/>
        </p:nvSpPr>
        <p:spPr>
          <a:xfrm>
            <a:off x="6066041" y="5629254"/>
            <a:ext cx="209531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Hamiltonian</a:t>
            </a:r>
          </a:p>
          <a:p>
            <a:pPr algn="ctr"/>
            <a:r>
              <a:rPr lang="en-US" sz="2800" dirty="0"/>
              <a:t>path (hard)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D173D4-A035-8647-902B-45C95C2A9075}"/>
              </a:ext>
            </a:extLst>
          </p:cNvPr>
          <p:cNvSpPr txBox="1"/>
          <p:nvPr/>
        </p:nvSpPr>
        <p:spPr>
          <a:xfrm>
            <a:off x="8101631" y="5614967"/>
            <a:ext cx="223747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Eulerian path</a:t>
            </a:r>
          </a:p>
          <a:p>
            <a:pPr algn="ctr"/>
            <a:r>
              <a:rPr lang="en-US" sz="2800" dirty="0"/>
              <a:t>(“easy”)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F11E296-345C-C2AE-BEB1-441E80839A5A}"/>
              </a:ext>
            </a:extLst>
          </p:cNvPr>
          <p:cNvGrpSpPr/>
          <p:nvPr/>
        </p:nvGrpSpPr>
        <p:grpSpPr>
          <a:xfrm>
            <a:off x="1148634" y="2633040"/>
            <a:ext cx="3256938" cy="3767023"/>
            <a:chOff x="5962002" y="2633040"/>
            <a:chExt cx="3256938" cy="3767023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3B481F8-8A4E-E54D-D803-840149738809}"/>
                </a:ext>
              </a:extLst>
            </p:cNvPr>
            <p:cNvSpPr/>
            <p:nvPr/>
          </p:nvSpPr>
          <p:spPr>
            <a:xfrm>
              <a:off x="7458737" y="2633040"/>
              <a:ext cx="263471" cy="23952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93F0829-47C9-553A-A601-2A7EFFB30A82}"/>
                </a:ext>
              </a:extLst>
            </p:cNvPr>
            <p:cNvSpPr/>
            <p:nvPr/>
          </p:nvSpPr>
          <p:spPr>
            <a:xfrm>
              <a:off x="5962003" y="4114767"/>
              <a:ext cx="263471" cy="23952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BD2040E-EA4E-70C1-C02E-1AEF81881178}"/>
                </a:ext>
              </a:extLst>
            </p:cNvPr>
            <p:cNvSpPr/>
            <p:nvPr/>
          </p:nvSpPr>
          <p:spPr>
            <a:xfrm>
              <a:off x="8929673" y="4084701"/>
              <a:ext cx="263471" cy="23952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092DA4D-9D05-70E0-DC19-FAFD40D273DF}"/>
                </a:ext>
              </a:extLst>
            </p:cNvPr>
            <p:cNvSpPr/>
            <p:nvPr/>
          </p:nvSpPr>
          <p:spPr>
            <a:xfrm>
              <a:off x="5962002" y="6160543"/>
              <a:ext cx="263471" cy="23952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C80EF01-65CB-69F9-A885-9F6602583AFC}"/>
                </a:ext>
              </a:extLst>
            </p:cNvPr>
            <p:cNvSpPr/>
            <p:nvPr/>
          </p:nvSpPr>
          <p:spPr>
            <a:xfrm>
              <a:off x="8955469" y="6129878"/>
              <a:ext cx="263471" cy="23952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C9378F1-E3DD-6062-D8AA-E42CBFF6C6D6}"/>
              </a:ext>
            </a:extLst>
          </p:cNvPr>
          <p:cNvCxnSpPr>
            <a:cxnSpLocks/>
            <a:endCxn id="12" idx="1"/>
          </p:cNvCxnSpPr>
          <p:nvPr/>
        </p:nvCxnSpPr>
        <p:spPr>
          <a:xfrm flipH="1" flipV="1">
            <a:off x="1187219" y="4149844"/>
            <a:ext cx="11902" cy="2130459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4A6C963-E744-D2EB-A8DE-5C2619B67CEA}"/>
              </a:ext>
            </a:extLst>
          </p:cNvPr>
          <p:cNvCxnSpPr>
            <a:cxnSpLocks/>
            <a:stCxn id="12" idx="7"/>
          </p:cNvCxnSpPr>
          <p:nvPr/>
        </p:nvCxnSpPr>
        <p:spPr>
          <a:xfrm flipV="1">
            <a:off x="1373522" y="2752800"/>
            <a:ext cx="1403580" cy="1397044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01220C-E4C6-1595-F7B4-5354D96A527D}"/>
              </a:ext>
            </a:extLst>
          </p:cNvPr>
          <p:cNvCxnSpPr>
            <a:cxnSpLocks/>
            <a:stCxn id="13" idx="6"/>
          </p:cNvCxnSpPr>
          <p:nvPr/>
        </p:nvCxnSpPr>
        <p:spPr>
          <a:xfrm flipH="1" flipV="1">
            <a:off x="2777103" y="2738315"/>
            <a:ext cx="1602673" cy="1466146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AE4F9C7-A084-D4BA-1A0B-341A9FD8E264}"/>
              </a:ext>
            </a:extLst>
          </p:cNvPr>
          <p:cNvCxnSpPr/>
          <p:nvPr/>
        </p:nvCxnSpPr>
        <p:spPr>
          <a:xfrm flipV="1">
            <a:off x="4379776" y="4148276"/>
            <a:ext cx="0" cy="2045776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A60AABF-538C-A4D8-CBC3-F4825806AB9F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 flipV="1">
            <a:off x="1412105" y="6249638"/>
            <a:ext cx="2729996" cy="30665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A39E275-1264-17EE-E898-4787799CDC4F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1364604" y="4119778"/>
            <a:ext cx="2790285" cy="22463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2782F41-5C39-4636-8D0A-C4BDFC137C40}"/>
              </a:ext>
            </a:extLst>
          </p:cNvPr>
          <p:cNvCxnSpPr>
            <a:cxnSpLocks/>
            <a:stCxn id="12" idx="1"/>
            <a:endCxn id="15" idx="2"/>
          </p:cNvCxnSpPr>
          <p:nvPr/>
        </p:nvCxnSpPr>
        <p:spPr>
          <a:xfrm>
            <a:off x="1187219" y="4149844"/>
            <a:ext cx="2954882" cy="2099794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3A6C083-F729-24DD-7B0E-3BFE3BC9E6D9}"/>
              </a:ext>
            </a:extLst>
          </p:cNvPr>
          <p:cNvCxnSpPr>
            <a:cxnSpLocks/>
            <a:stCxn id="13" idx="1"/>
            <a:endCxn id="14" idx="6"/>
          </p:cNvCxnSpPr>
          <p:nvPr/>
        </p:nvCxnSpPr>
        <p:spPr>
          <a:xfrm flipH="1">
            <a:off x="1412105" y="4119778"/>
            <a:ext cx="2742784" cy="2160525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119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950C-247C-65E1-E290-8C10C6D59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880" y="136525"/>
            <a:ext cx="7913022" cy="79311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US" sz="4000" dirty="0"/>
              <a:t>Eulerian Paths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5781CB-FCA2-57CA-C25A-FD861DC928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24402" y="1056883"/>
            <a:ext cx="4508500" cy="18443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1925C8-3BE7-8A89-24BF-1A376C696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95" y="2464543"/>
            <a:ext cx="3864496" cy="39406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2CA0D2-B956-0329-1828-3CB8F5FD6562}"/>
              </a:ext>
            </a:extLst>
          </p:cNvPr>
          <p:cNvSpPr txBox="1"/>
          <p:nvPr/>
        </p:nvSpPr>
        <p:spPr>
          <a:xfrm>
            <a:off x="4119880" y="1056883"/>
            <a:ext cx="249606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5 x 7 </a:t>
            </a:r>
            <a:r>
              <a:rPr lang="en-US" sz="2800" dirty="0" err="1"/>
              <a:t>nt</a:t>
            </a:r>
            <a:r>
              <a:rPr lang="en-US" sz="2800" dirty="0"/>
              <a:t> reads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OLC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3EFDDF-A837-1303-2E38-82515C6AB5F8}"/>
              </a:ext>
            </a:extLst>
          </p:cNvPr>
          <p:cNvSpPr txBox="1"/>
          <p:nvPr/>
        </p:nvSpPr>
        <p:spPr>
          <a:xfrm>
            <a:off x="4471792" y="3120053"/>
            <a:ext cx="756111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Break reads into all possible 3-mers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e.g. CGT, GTG, TGC, GCA, CAA,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Place unique k-1 </a:t>
            </a:r>
            <a:r>
              <a:rPr lang="en-US" sz="2800" dirty="0" err="1"/>
              <a:t>mers</a:t>
            </a:r>
            <a:r>
              <a:rPr lang="en-US" sz="2800" dirty="0"/>
              <a:t> at </a:t>
            </a:r>
            <a:r>
              <a:rPr lang="en-US" sz="2800" b="1" dirty="0"/>
              <a:t>nodes</a:t>
            </a:r>
            <a:r>
              <a:rPr lang="en-US" sz="2800" dirty="0"/>
              <a:t> in a graph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e.g. CG, GT, GT, TG, TG, GC, GC, CA, CA, AA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nodes = CG, GT, TG, GC, CA, AA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Join nodes if they overlap by k-2 &amp;&amp; the resulting </a:t>
            </a:r>
            <a:r>
              <a:rPr lang="en-US" sz="2800" b="1" dirty="0"/>
              <a:t>edge</a:t>
            </a:r>
            <a:r>
              <a:rPr lang="en-US" sz="2800" dirty="0"/>
              <a:t> forms a known k-</a:t>
            </a:r>
            <a:r>
              <a:rPr lang="en-US" sz="2800" dirty="0" err="1"/>
              <a:t>mer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Visit all </a:t>
            </a:r>
            <a:r>
              <a:rPr lang="en-US" sz="2800" b="1" dirty="0"/>
              <a:t>nodes</a:t>
            </a:r>
            <a:r>
              <a:rPr lang="en-US" sz="2800" dirty="0"/>
              <a:t> using each </a:t>
            </a:r>
            <a:r>
              <a:rPr lang="en-US" sz="2800" b="1" dirty="0"/>
              <a:t>edge</a:t>
            </a:r>
            <a:r>
              <a:rPr lang="en-US" sz="2800" dirty="0"/>
              <a:t> only once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528794-3E7B-80A0-80F6-5F3D5E515D2F}"/>
              </a:ext>
            </a:extLst>
          </p:cNvPr>
          <p:cNvSpPr/>
          <p:nvPr/>
        </p:nvSpPr>
        <p:spPr>
          <a:xfrm>
            <a:off x="7524402" y="1056883"/>
            <a:ext cx="286744" cy="2754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47E30E-1040-E58E-8557-3529217CB403}"/>
              </a:ext>
            </a:extLst>
          </p:cNvPr>
          <p:cNvSpPr/>
          <p:nvPr/>
        </p:nvSpPr>
        <p:spPr>
          <a:xfrm>
            <a:off x="426178" y="1056883"/>
            <a:ext cx="286744" cy="2754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33F7AB-0C45-ED99-9CAB-6B1B6BC6B399}"/>
              </a:ext>
            </a:extLst>
          </p:cNvPr>
          <p:cNvSpPr/>
          <p:nvPr/>
        </p:nvSpPr>
        <p:spPr>
          <a:xfrm>
            <a:off x="441676" y="2467229"/>
            <a:ext cx="286744" cy="2754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923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uiExpand="1" build="p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5035" y="305629"/>
            <a:ext cx="7661167" cy="91873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241300"/>
            <a:r>
              <a:rPr lang="en-US" dirty="0"/>
              <a:t>Eulerian Cycle with Repeats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l="-9580" r="-9580"/>
          <a:stretch>
            <a:fillRect/>
          </a:stretch>
        </p:blipFill>
        <p:spPr>
          <a:xfrm>
            <a:off x="3355489" y="1994775"/>
            <a:ext cx="9362162" cy="4182187"/>
          </a:xfrm>
        </p:spPr>
      </p:pic>
      <p:sp>
        <p:nvSpPr>
          <p:cNvPr id="5" name="TextBox 4"/>
          <p:cNvSpPr txBox="1"/>
          <p:nvPr/>
        </p:nvSpPr>
        <p:spPr>
          <a:xfrm>
            <a:off x="6333067" y="6288668"/>
            <a:ext cx="4534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Compeau</a:t>
            </a:r>
            <a:r>
              <a:rPr lang="en-US" dirty="0"/>
              <a:t> et al., Nature Biotech, 2011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00843" y="2356161"/>
            <a:ext cx="902826" cy="1030148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0181805" y="3355109"/>
            <a:ext cx="949125" cy="1030148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B805A7-74CE-4952-C500-0E19F78EBBF1}"/>
              </a:ext>
            </a:extLst>
          </p:cNvPr>
          <p:cNvSpPr txBox="1"/>
          <p:nvPr/>
        </p:nvSpPr>
        <p:spPr>
          <a:xfrm>
            <a:off x="185979" y="2216331"/>
            <a:ext cx="36575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Some k-</a:t>
            </a:r>
            <a:r>
              <a:rPr lang="en-US" sz="2400" dirty="0" err="1"/>
              <a:t>mers</a:t>
            </a:r>
            <a:r>
              <a:rPr lang="en-US" sz="2400" dirty="0"/>
              <a:t> may occur at higher frequencies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Probably repeated sequences in the genome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Allow repeated traversal of edges that form high abundance k-</a:t>
            </a:r>
            <a:r>
              <a:rPr lang="en-US" sz="2400" dirty="0" err="1"/>
              <a:t>mers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67659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E54499-EFB4-CC44-B30E-87D3B900E8F8}"/>
              </a:ext>
            </a:extLst>
          </p:cNvPr>
          <p:cNvSpPr txBox="1"/>
          <p:nvPr/>
        </p:nvSpPr>
        <p:spPr>
          <a:xfrm>
            <a:off x="4195035" y="1275105"/>
            <a:ext cx="7661167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k-</a:t>
            </a:r>
            <a:r>
              <a:rPr lang="en-US" sz="2400" dirty="0" err="1"/>
              <a:t>mer</a:t>
            </a:r>
            <a:r>
              <a:rPr lang="en-US" sz="2400" dirty="0"/>
              <a:t> length &lt; repeat length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The order of flanking motifs will be unclear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D0797F6-5DB5-11D0-4A16-4C3FCBD3F7F6}"/>
              </a:ext>
            </a:extLst>
          </p:cNvPr>
          <p:cNvSpPr txBox="1">
            <a:spLocks/>
          </p:cNvSpPr>
          <p:nvPr/>
        </p:nvSpPr>
        <p:spPr>
          <a:xfrm>
            <a:off x="4195035" y="305629"/>
            <a:ext cx="7661167" cy="8286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975"/>
            <a:r>
              <a:rPr lang="en-US" dirty="0"/>
              <a:t>Unresolvable Repeats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16B0790-F732-EA30-1926-ABBA9AA8362F}"/>
              </a:ext>
            </a:extLst>
          </p:cNvPr>
          <p:cNvGrpSpPr/>
          <p:nvPr/>
        </p:nvGrpSpPr>
        <p:grpSpPr>
          <a:xfrm>
            <a:off x="4576708" y="2433047"/>
            <a:ext cx="7736478" cy="3354765"/>
            <a:chOff x="2653254" y="2334597"/>
            <a:chExt cx="8779329" cy="3806976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2"/>
            <a:srcRect t="27958"/>
            <a:stretch/>
          </p:blipFill>
          <p:spPr>
            <a:xfrm>
              <a:off x="2653254" y="2334597"/>
              <a:ext cx="8779329" cy="380697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F308D8-2F29-BDCE-673F-36A2B520B057}"/>
                </a:ext>
              </a:extLst>
            </p:cNvPr>
            <p:cNvSpPr/>
            <p:nvPr/>
          </p:nvSpPr>
          <p:spPr>
            <a:xfrm>
              <a:off x="2913681" y="4633993"/>
              <a:ext cx="2727702" cy="13018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0BD6268-0D92-DC59-3F01-69750EE322DE}"/>
              </a:ext>
            </a:extLst>
          </p:cNvPr>
          <p:cNvSpPr txBox="1"/>
          <p:nvPr/>
        </p:nvSpPr>
        <p:spPr>
          <a:xfrm>
            <a:off x="286718" y="2438937"/>
            <a:ext cx="5809281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Contigs will be terminated at unresolvable repeat boundaries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With k-</a:t>
            </a:r>
            <a:r>
              <a:rPr lang="en-US" sz="2400" dirty="0" err="1"/>
              <a:t>mer</a:t>
            </a:r>
            <a:r>
              <a:rPr lang="en-US" sz="2400" dirty="0"/>
              <a:t> = 12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First contig for above “sequence” will be: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“It was the best of times, it was the ”</a:t>
            </a:r>
          </a:p>
        </p:txBody>
      </p:sp>
      <p:pic>
        <p:nvPicPr>
          <p:cNvPr id="6" name="Picture 5" descr="A close-up of a network&#10;&#10;AI-generated content may be incorrect.">
            <a:extLst>
              <a:ext uri="{FF2B5EF4-FFF2-40B4-BE49-F238E27FC236}">
                <a16:creationId xmlns:a16="http://schemas.microsoft.com/office/drawing/2014/main" id="{F0F62709-4F05-0DAF-12A8-2723893BC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908" y="2126558"/>
            <a:ext cx="4815047" cy="46749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EBBACE-BFB3-C5B6-A4B2-2D708377981A}"/>
              </a:ext>
            </a:extLst>
          </p:cNvPr>
          <p:cNvSpPr txBox="1"/>
          <p:nvPr/>
        </p:nvSpPr>
        <p:spPr>
          <a:xfrm>
            <a:off x="286718" y="4731442"/>
            <a:ext cx="6923173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But there are two possible paths forward…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Most assemblers will record potential connections in a graph to retain this information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This graph was visualized using </a:t>
            </a:r>
            <a:r>
              <a:rPr lang="en-US" sz="2400" b="1" dirty="0"/>
              <a:t>Bandage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63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build="p"/>
      <p:bldP spid="4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2E57E-28C7-98F7-5023-D575C6BF2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879" y="278971"/>
            <a:ext cx="7534845" cy="91439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L="241300"/>
            <a:r>
              <a:rPr lang="en-US" dirty="0"/>
              <a:t>K-</a:t>
            </a:r>
            <a:r>
              <a:rPr lang="en-US" dirty="0" err="1"/>
              <a:t>mer</a:t>
            </a:r>
            <a:r>
              <a:rPr lang="en-US" dirty="0"/>
              <a:t>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D6BE6-2E03-39A8-B577-3ECDA209D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712" y="1330154"/>
            <a:ext cx="6109000" cy="524887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Must be shorter than read lengths</a:t>
            </a:r>
          </a:p>
          <a:p>
            <a:pPr>
              <a:spcBef>
                <a:spcPts val="1200"/>
              </a:spcBef>
            </a:pPr>
            <a:r>
              <a:rPr lang="en-US" dirty="0"/>
              <a:t>Too short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many spurious overlaps</a:t>
            </a:r>
          </a:p>
          <a:p>
            <a:pPr>
              <a:spcBef>
                <a:spcPts val="1200"/>
              </a:spcBef>
            </a:pPr>
            <a:r>
              <a:rPr lang="en-US" dirty="0"/>
              <a:t>Too long </a:t>
            </a:r>
            <a:r>
              <a:rPr lang="en-US" dirty="0">
                <a:sym typeface="Wingdings" pitchFamily="2" charset="2"/>
              </a:rPr>
              <a:t> fragmented assembly</a:t>
            </a:r>
          </a:p>
          <a:p>
            <a:pPr lvl="1">
              <a:spcBef>
                <a:spcPts val="1200"/>
              </a:spcBef>
            </a:pPr>
            <a:r>
              <a:rPr lang="en-US" dirty="0">
                <a:sym typeface="Wingdings" pitchFamily="2" charset="2"/>
              </a:rPr>
              <a:t>K-</a:t>
            </a:r>
            <a:r>
              <a:rPr lang="en-US" dirty="0" err="1">
                <a:sym typeface="Wingdings" pitchFamily="2" charset="2"/>
              </a:rPr>
              <a:t>mers</a:t>
            </a:r>
            <a:r>
              <a:rPr lang="en-US" dirty="0">
                <a:sym typeface="Wingdings" pitchFamily="2" charset="2"/>
              </a:rPr>
              <a:t> contain sequencing errors</a:t>
            </a:r>
            <a:endParaRPr lang="en-US" dirty="0"/>
          </a:p>
        </p:txBody>
      </p:sp>
      <p:pic>
        <p:nvPicPr>
          <p:cNvPr id="5" name="Picture 4" descr="A bunch of colorful wires&#10;&#10;Description automatically generated">
            <a:extLst>
              <a:ext uri="{FF2B5EF4-FFF2-40B4-BE49-F238E27FC236}">
                <a16:creationId xmlns:a16="http://schemas.microsoft.com/office/drawing/2014/main" id="{5FC1A094-524D-F472-9B02-AEBBA0306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385" y="3582952"/>
            <a:ext cx="2744877" cy="277135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A group of colorful lines&#10;&#10;Description automatically generated">
            <a:extLst>
              <a:ext uri="{FF2B5EF4-FFF2-40B4-BE49-F238E27FC236}">
                <a16:creationId xmlns:a16="http://schemas.microsoft.com/office/drawing/2014/main" id="{FE87AE66-8115-BB77-B7C2-6BAB2B3AE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030" y="3582952"/>
            <a:ext cx="2767709" cy="277135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A colorful lines and dots&#10;&#10;Description automatically generated with medium confidence">
            <a:extLst>
              <a:ext uri="{FF2B5EF4-FFF2-40B4-BE49-F238E27FC236}">
                <a16:creationId xmlns:a16="http://schemas.microsoft.com/office/drawing/2014/main" id="{DAE26D2E-4564-2E7C-025B-5F4323D3C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7148" y="3582952"/>
            <a:ext cx="3181483" cy="277135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149D3E-AD7A-C2EE-E239-15815F5FBDB9}"/>
              </a:ext>
            </a:extLst>
          </p:cNvPr>
          <p:cNvSpPr txBox="1"/>
          <p:nvPr/>
        </p:nvSpPr>
        <p:spPr>
          <a:xfrm>
            <a:off x="1714670" y="6353465"/>
            <a:ext cx="1112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K = 51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2E1BD0-6734-F234-EB12-8EEC8EC816BF}"/>
              </a:ext>
            </a:extLst>
          </p:cNvPr>
          <p:cNvSpPr txBox="1"/>
          <p:nvPr/>
        </p:nvSpPr>
        <p:spPr>
          <a:xfrm>
            <a:off x="8755684" y="6353465"/>
            <a:ext cx="1112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K = 71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4C21ED-29D6-9565-D08C-AF42865C8A04}"/>
              </a:ext>
            </a:extLst>
          </p:cNvPr>
          <p:cNvSpPr txBox="1"/>
          <p:nvPr/>
        </p:nvSpPr>
        <p:spPr>
          <a:xfrm>
            <a:off x="5004716" y="6334780"/>
            <a:ext cx="1112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K = 91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F32840-4550-17D7-E837-D40589DC132B}"/>
              </a:ext>
            </a:extLst>
          </p:cNvPr>
          <p:cNvSpPr txBox="1"/>
          <p:nvPr/>
        </p:nvSpPr>
        <p:spPr>
          <a:xfrm>
            <a:off x="1056958" y="3059668"/>
            <a:ext cx="2707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Bandage</a:t>
            </a:r>
            <a:r>
              <a:rPr lang="en-US" dirty="0"/>
              <a:t> assembly graph</a:t>
            </a:r>
          </a:p>
        </p:txBody>
      </p:sp>
    </p:spTree>
    <p:extLst>
      <p:ext uri="{BB962C8B-B14F-4D97-AF65-F5344CB8AC3E}">
        <p14:creationId xmlns:p14="http://schemas.microsoft.com/office/powerpoint/2010/main" val="2293782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  <p:bldP spid="11" grpId="0"/>
      <p:bldP spid="12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2400" y="208982"/>
            <a:ext cx="7638011" cy="793115"/>
          </a:xfrm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/>
              <a:t>Reference-based genome assembly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157" y="3158462"/>
            <a:ext cx="8820095" cy="3324614"/>
          </a:xfrm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3962400" y="1074555"/>
            <a:ext cx="74726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/>
              <a:t>Useful when a high-quality reference genome sequence is available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/>
              <a:t>Align sequence reads with the reference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/>
              <a:t>Examine the layout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/>
              <a:t>Call a consensus sequence (helps eliminate </a:t>
            </a:r>
            <a:r>
              <a:rPr lang="en-US" sz="2400" dirty="0">
                <a:solidFill>
                  <a:srgbClr val="00B050"/>
                </a:solidFill>
              </a:rPr>
              <a:t>errors</a:t>
            </a:r>
            <a:r>
              <a:rPr lang="en-US" sz="2400" dirty="0"/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51768" y="5951698"/>
            <a:ext cx="5613263" cy="56715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8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08FFB-2CB0-8AA0-51F3-632848017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880" y="412059"/>
            <a:ext cx="7315200" cy="793115"/>
          </a:xfrm>
        </p:spPr>
        <p:txBody>
          <a:bodyPr/>
          <a:lstStyle/>
          <a:p>
            <a:r>
              <a:rPr lang="en-US" dirty="0"/>
              <a:t>Transcriptome Assembly</a:t>
            </a:r>
          </a:p>
        </p:txBody>
      </p:sp>
      <p:grpSp>
        <p:nvGrpSpPr>
          <p:cNvPr id="4" name="Group">
            <a:extLst>
              <a:ext uri="{FF2B5EF4-FFF2-40B4-BE49-F238E27FC236}">
                <a16:creationId xmlns:a16="http://schemas.microsoft.com/office/drawing/2014/main" id="{57ED818C-97C4-A23C-FCC4-3CB01D0B7583}"/>
              </a:ext>
            </a:extLst>
          </p:cNvPr>
          <p:cNvGrpSpPr/>
          <p:nvPr/>
        </p:nvGrpSpPr>
        <p:grpSpPr>
          <a:xfrm>
            <a:off x="2441358" y="3072183"/>
            <a:ext cx="7243970" cy="3609469"/>
            <a:chOff x="-19768" y="0"/>
            <a:chExt cx="7243967" cy="3609467"/>
          </a:xfrm>
        </p:grpSpPr>
        <p:sp>
          <p:nvSpPr>
            <p:cNvPr id="5" name="https://en.wikipedia.org/wiki/Alternative_splicing#/media/File:DNA_alternative_splicing.gif">
              <a:extLst>
                <a:ext uri="{FF2B5EF4-FFF2-40B4-BE49-F238E27FC236}">
                  <a16:creationId xmlns:a16="http://schemas.microsoft.com/office/drawing/2014/main" id="{4ED8C8FB-4B68-4193-D162-3D3110139DDF}"/>
                </a:ext>
              </a:extLst>
            </p:cNvPr>
            <p:cNvSpPr txBox="1"/>
            <p:nvPr/>
          </p:nvSpPr>
          <p:spPr>
            <a:xfrm>
              <a:off x="-19768" y="3291559"/>
              <a:ext cx="7243967" cy="3179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400"/>
              </a:lvl1pPr>
            </a:lstStyle>
            <a:p>
              <a:r>
                <a:rPr sz="1399"/>
                <a:t>https://en.wikipedia.org/wiki/Alternative_splicing#/media/File:DNA_alternative_splicing.gif</a:t>
              </a:r>
            </a:p>
          </p:txBody>
        </p:sp>
        <p:grpSp>
          <p:nvGrpSpPr>
            <p:cNvPr id="6" name="Group">
              <a:extLst>
                <a:ext uri="{FF2B5EF4-FFF2-40B4-BE49-F238E27FC236}">
                  <a16:creationId xmlns:a16="http://schemas.microsoft.com/office/drawing/2014/main" id="{101DA16F-7298-1443-9FE0-B1573C86EEFD}"/>
                </a:ext>
              </a:extLst>
            </p:cNvPr>
            <p:cNvGrpSpPr/>
            <p:nvPr/>
          </p:nvGrpSpPr>
          <p:grpSpPr>
            <a:xfrm>
              <a:off x="298694" y="0"/>
              <a:ext cx="6607043" cy="3243430"/>
              <a:chOff x="0" y="0"/>
              <a:chExt cx="6607042" cy="3243429"/>
            </a:xfrm>
          </p:grpSpPr>
          <p:sp>
            <p:nvSpPr>
              <p:cNvPr id="7" name="Rectangle">
                <a:extLst>
                  <a:ext uri="{FF2B5EF4-FFF2-40B4-BE49-F238E27FC236}">
                    <a16:creationId xmlns:a16="http://schemas.microsoft.com/office/drawing/2014/main" id="{9611F5B2-24B3-3C21-3CF5-EB6EF54872D3}"/>
                  </a:ext>
                </a:extLst>
              </p:cNvPr>
              <p:cNvSpPr/>
              <p:nvPr/>
            </p:nvSpPr>
            <p:spPr>
              <a:xfrm>
                <a:off x="0" y="0"/>
                <a:ext cx="6607043" cy="324343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>
                <a:outerShdw blurRad="635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2200"/>
              </a:p>
            </p:txBody>
          </p:sp>
          <p:pic>
            <p:nvPicPr>
              <p:cNvPr id="8" name="Image" descr="Image">
                <a:extLst>
                  <a:ext uri="{FF2B5EF4-FFF2-40B4-BE49-F238E27FC236}">
                    <a16:creationId xmlns:a16="http://schemas.microsoft.com/office/drawing/2014/main" id="{3A12D029-BB2F-73BF-6D11-9CF9CE6ECF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262" y="274968"/>
                <a:ext cx="6127844" cy="294749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2880793-081F-23DD-2BA3-8A4BEE928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1203" y="1205174"/>
            <a:ext cx="6109000" cy="524887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dirty="0"/>
              <a:t>Alternative spliced transcripts</a:t>
            </a:r>
          </a:p>
          <a:p>
            <a:pPr>
              <a:spcBef>
                <a:spcPts val="1200"/>
              </a:spcBef>
            </a:pPr>
            <a:r>
              <a:rPr lang="en-US" dirty="0"/>
              <a:t>Alternative assembly paths</a:t>
            </a:r>
          </a:p>
          <a:p>
            <a:pPr>
              <a:spcBef>
                <a:spcPts val="1200"/>
              </a:spcBef>
            </a:pPr>
            <a:r>
              <a:rPr lang="en-US" dirty="0" err="1"/>
              <a:t>rnaSPAdes</a:t>
            </a:r>
            <a:r>
              <a:rPr lang="en-US" dirty="0"/>
              <a:t>, Trinity, </a:t>
            </a:r>
            <a:r>
              <a:rPr lang="en-US" dirty="0" err="1"/>
              <a:t>rna</a:t>
            </a:r>
            <a:r>
              <a:rPr lang="en-US" dirty="0"/>
              <a:t>-Bloom, etc.</a:t>
            </a:r>
          </a:p>
          <a:p>
            <a:pPr>
              <a:spcBef>
                <a:spcPts val="12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409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7D28A-6AAB-35B3-11D1-D74BAA838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879" y="370608"/>
            <a:ext cx="7315200" cy="10231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Transcriptome Assembly Using </a:t>
            </a:r>
            <a:r>
              <a:rPr lang="en-US" dirty="0" err="1"/>
              <a:t>rnaSPAdes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11F4690-BE5A-C1EC-B772-F983CA5FC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30456" y="4653067"/>
            <a:ext cx="3432296" cy="2043776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C9F782-CDF6-BA81-7D4C-E96054838065}"/>
              </a:ext>
            </a:extLst>
          </p:cNvPr>
          <p:cNvSpPr txBox="1"/>
          <p:nvPr/>
        </p:nvSpPr>
        <p:spPr>
          <a:xfrm>
            <a:off x="247910" y="2658253"/>
            <a:ext cx="774393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Adapts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</a:rPr>
              <a:t>SPAdes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 genome assembler strategy:</a:t>
            </a:r>
          </a:p>
          <a:p>
            <a:pPr marL="742950" lvl="1" indent="-285750">
              <a:buFont typeface="System Font Regular"/>
              <a:buChar char="-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Uses </a:t>
            </a:r>
            <a:r>
              <a:rPr lang="en-US" sz="2800" b="1" i="0" u="none" strike="noStrike" dirty="0">
                <a:solidFill>
                  <a:srgbClr val="000000"/>
                </a:solidFill>
                <a:effectLst/>
              </a:rPr>
              <a:t>multiple k-</a:t>
            </a:r>
            <a:r>
              <a:rPr lang="en-US" sz="2800" b="1" i="0" u="none" strike="noStrike" dirty="0" err="1">
                <a:solidFill>
                  <a:srgbClr val="000000"/>
                </a:solidFill>
                <a:effectLst/>
              </a:rPr>
              <a:t>mer</a:t>
            </a:r>
            <a:r>
              <a:rPr lang="en-US" sz="2800" b="1" i="0" u="none" strike="noStrike" dirty="0">
                <a:solidFill>
                  <a:srgbClr val="000000"/>
                </a:solidFill>
                <a:effectLst/>
              </a:rPr>
              <a:t> sizes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 simultaneously</a:t>
            </a:r>
          </a:p>
          <a:p>
            <a:pPr marL="742950" lvl="1" indent="-285750">
              <a:buFont typeface="System Font Regular"/>
              <a:buChar char="-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Constructs series of graphs across k values</a:t>
            </a:r>
          </a:p>
          <a:p>
            <a:pPr marL="742950" lvl="1" indent="-285750">
              <a:buFont typeface="System Font Regular"/>
              <a:buChar char="-"/>
            </a:pPr>
            <a:r>
              <a:rPr lang="en-US" sz="2800" dirty="0">
                <a:solidFill>
                  <a:srgbClr val="000000"/>
                </a:solidFill>
              </a:rPr>
              <a:t>Merges information across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</a:rPr>
              <a:t>Applies transcript-specific graph simplification</a:t>
            </a:r>
          </a:p>
          <a:p>
            <a:pPr marL="742950" lvl="1" indent="-285750">
              <a:buFont typeface="System Font Regular"/>
              <a:buChar char="-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Uses read support to infer transcript paths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0D1AA5-3727-2511-DB67-6508AA498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0456" y="2485118"/>
            <a:ext cx="3432296" cy="1887763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744692C-C62A-3525-E1A4-E5CDBE107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2554" y="1722931"/>
            <a:ext cx="449652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6FB7"/>
                </a:solidFill>
                <a:effectLst/>
                <a:latin typeface="Source Sans Pro" panose="020B0503030403020204" pitchFamily="34" charset="0"/>
                <a:hlinkClick r:id="rId4"/>
              </a:rPr>
              <a:t>https://doi.org/10.1093/gigascience/giz100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816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4542" y="274639"/>
            <a:ext cx="7515468" cy="95408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This afternoon’s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4542" y="1409533"/>
            <a:ext cx="7857641" cy="539338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Inspect sequence data quality (</a:t>
            </a:r>
            <a:r>
              <a:rPr lang="en-US" b="1" dirty="0"/>
              <a:t>FASTQC</a:t>
            </a:r>
            <a:r>
              <a:rPr lang="en-US" dirty="0"/>
              <a:t>)</a:t>
            </a:r>
          </a:p>
          <a:p>
            <a:r>
              <a:rPr lang="en-US" dirty="0"/>
              <a:t>(Experts) trim poor quality data (</a:t>
            </a:r>
            <a:r>
              <a:rPr lang="en-US" b="1" dirty="0" err="1"/>
              <a:t>trimmomatic</a:t>
            </a:r>
            <a:r>
              <a:rPr lang="en-US" dirty="0"/>
              <a:t>)</a:t>
            </a:r>
          </a:p>
          <a:p>
            <a:r>
              <a:rPr lang="en-US" dirty="0"/>
              <a:t>Assemble a bacterial genome (</a:t>
            </a:r>
            <a:r>
              <a:rPr lang="en-US" b="1" dirty="0"/>
              <a:t>velvet)</a:t>
            </a:r>
          </a:p>
          <a:p>
            <a:pPr lvl="1"/>
            <a:r>
              <a:rPr lang="en-US" dirty="0"/>
              <a:t>Run </a:t>
            </a:r>
            <a:r>
              <a:rPr lang="en-US" b="1" dirty="0"/>
              <a:t>velvet</a:t>
            </a:r>
            <a:r>
              <a:rPr lang="en-US" dirty="0"/>
              <a:t> using a range of different k-</a:t>
            </a:r>
            <a:r>
              <a:rPr lang="en-US" dirty="0" err="1"/>
              <a:t>mer</a:t>
            </a:r>
            <a:r>
              <a:rPr lang="en-US" dirty="0"/>
              <a:t> values (</a:t>
            </a:r>
            <a:r>
              <a:rPr lang="en-US" b="1" dirty="0" err="1"/>
              <a:t>velvetoptimiser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Examine and interpret assembly metrics (</a:t>
            </a:r>
            <a:r>
              <a:rPr lang="en-US" b="1" dirty="0"/>
              <a:t>command line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(Experts) Find precise k-</a:t>
            </a:r>
            <a:r>
              <a:rPr lang="en-US" dirty="0" err="1"/>
              <a:t>mer</a:t>
            </a:r>
            <a:r>
              <a:rPr lang="en-US" dirty="0"/>
              <a:t> length giving optimal assembly</a:t>
            </a:r>
          </a:p>
          <a:p>
            <a:r>
              <a:rPr lang="en-US" dirty="0"/>
              <a:t>Explore the assembly graph using a browsable graphical interface – </a:t>
            </a:r>
            <a:r>
              <a:rPr lang="en-US" b="1" dirty="0"/>
              <a:t>Bandage</a:t>
            </a:r>
          </a:p>
          <a:p>
            <a:r>
              <a:rPr lang="en-US" dirty="0"/>
              <a:t>Assemble transcriptomic data from tall fescue grass using </a:t>
            </a:r>
            <a:r>
              <a:rPr lang="en-US" b="1" dirty="0" err="1"/>
              <a:t>rnaSPAdes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0321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odule1_Unix" id="{B97A8DFC-3B5B-CF40-A248-4D40295A317E}" vid="{1E468086-C5C6-4940-AA7B-9FFADE1631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2059</TotalTime>
  <Words>987</Words>
  <Application>Microsoft Macintosh PowerPoint</Application>
  <PresentationFormat>Widescreen</PresentationFormat>
  <Paragraphs>182</Paragraphs>
  <Slides>24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Aptos</vt:lpstr>
      <vt:lpstr>Aptos Display</vt:lpstr>
      <vt:lpstr>Arial</vt:lpstr>
      <vt:lpstr>Courier New</vt:lpstr>
      <vt:lpstr>Mercury Display</vt:lpstr>
      <vt:lpstr>Source Sans Pro</vt:lpstr>
      <vt:lpstr>System Font Regular</vt:lpstr>
      <vt:lpstr>Wingdings</vt:lpstr>
      <vt:lpstr>Office Theme</vt:lpstr>
      <vt:lpstr>Worksheet</vt:lpstr>
      <vt:lpstr>Lecture 3</vt:lpstr>
      <vt:lpstr>Key Concepts</vt:lpstr>
      <vt:lpstr>Goal of Genome Assembly</vt:lpstr>
      <vt:lpstr>Shear the DNA Sample</vt:lpstr>
      <vt:lpstr>Sequence both Ends of Each Fragment</vt:lpstr>
      <vt:lpstr>Collect the Sequence Read Data</vt:lpstr>
      <vt:lpstr>PowerPoint Presentation</vt:lpstr>
      <vt:lpstr>Paired ends allow contigs to be linked together to make scaffolds</vt:lpstr>
      <vt:lpstr>Genome Assemblers Galore</vt:lpstr>
      <vt:lpstr>De Novo Genome Assembly</vt:lpstr>
      <vt:lpstr>Overlap Layout Consensus From: Computational Genome Analysis: An Introduction; Deonier et al.</vt:lpstr>
      <vt:lpstr>Overlap Matrix</vt:lpstr>
      <vt:lpstr>Determine Layout of Overlaps From: Computational Genome Analysis: An Introduction; Deonier et al.</vt:lpstr>
      <vt:lpstr>Add “Weaker” Overlaps and Write Consensus Sequence</vt:lpstr>
      <vt:lpstr>OLC is computationally expensive</vt:lpstr>
      <vt:lpstr>De Bruin graphs</vt:lpstr>
      <vt:lpstr>Eulerian Paths</vt:lpstr>
      <vt:lpstr>Eulerian Cycle with Repeats</vt:lpstr>
      <vt:lpstr>PowerPoint Presentation</vt:lpstr>
      <vt:lpstr>K-mer size</vt:lpstr>
      <vt:lpstr>Reference-based genome assembly</vt:lpstr>
      <vt:lpstr>Transcriptome Assembly</vt:lpstr>
      <vt:lpstr>Transcriptome Assembly Using rnaSPAdes</vt:lpstr>
      <vt:lpstr>This afternoon’s 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Farman, Mark L.</dc:creator>
  <cp:lastModifiedBy>Farman, Mark L.</cp:lastModifiedBy>
  <cp:revision>38</cp:revision>
  <dcterms:created xsi:type="dcterms:W3CDTF">2024-07-22T21:29:03Z</dcterms:created>
  <dcterms:modified xsi:type="dcterms:W3CDTF">2026-06-16T11:26:47Z</dcterms:modified>
</cp:coreProperties>
</file>