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4" r:id="rId5"/>
    <p:sldId id="265" r:id="rId6"/>
    <p:sldId id="266" r:id="rId7"/>
    <p:sldId id="262" r:id="rId8"/>
    <p:sldId id="263" r:id="rId9"/>
    <p:sldId id="25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862724-3D9B-F749-A87A-D0F2A5F180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1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724" t="29526" r="4117" b="29279"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942541-15EE-6D49-9089-75926A456F0C}"/>
              </a:ext>
            </a:extLst>
          </p:cNvPr>
          <p:cNvSpPr txBox="1">
            <a:spLocks/>
          </p:cNvSpPr>
          <p:nvPr/>
        </p:nvSpPr>
        <p:spPr>
          <a:xfrm>
            <a:off x="4071686" y="255559"/>
            <a:ext cx="7772400" cy="944336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venir Next Regular"/>
                <a:ea typeface="+mj-ea"/>
                <a:cs typeface="Avenir Next Regular"/>
              </a:defRPr>
            </a:lvl1pPr>
          </a:lstStyle>
          <a:p>
            <a:r>
              <a:rPr lang="en-US" sz="4400" b="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Lecture 7: Genome Browsers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AAF0A-A91B-5DDF-51A5-0397F3372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686" y="1676438"/>
            <a:ext cx="7772400" cy="45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4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91619" y="171439"/>
            <a:ext cx="7886700" cy="91997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Genome Browsers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90780" y="2094958"/>
            <a:ext cx="7886700" cy="403426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A genome sequence database combined with interactive web pages</a:t>
            </a:r>
          </a:p>
          <a:p>
            <a:r>
              <a:rPr lang="en-US" dirty="0"/>
              <a:t>Allows the user to retrieve and interrogate database records through a graphical user interface (GUI)</a:t>
            </a:r>
          </a:p>
          <a:p>
            <a:r>
              <a:rPr lang="en-US" dirty="0"/>
              <a:t>Different types of information are displayed in  an intuitive fashion in user-configurable “tracks”</a:t>
            </a:r>
          </a:p>
        </p:txBody>
      </p:sp>
    </p:spTree>
    <p:extLst>
      <p:ext uri="{BB962C8B-B14F-4D97-AF65-F5344CB8AC3E}">
        <p14:creationId xmlns:p14="http://schemas.microsoft.com/office/powerpoint/2010/main" val="179420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3358" y="188139"/>
            <a:ext cx="7447403" cy="1158746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Genome annotation files are hard to interpret</a:t>
            </a:r>
          </a:p>
        </p:txBody>
      </p:sp>
      <p:graphicFrame>
        <p:nvGraphicFramePr>
          <p:cNvPr id="4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345407"/>
              </p:ext>
            </p:extLst>
          </p:nvPr>
        </p:nvGraphicFramePr>
        <p:xfrm>
          <a:off x="4204668" y="1442358"/>
          <a:ext cx="7344782" cy="5145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29600" imgH="5765800" progId="Word.Document.12">
                  <p:embed/>
                </p:oleObj>
              </mc:Choice>
              <mc:Fallback>
                <p:oleObj name="Document" r:id="rId2" imgW="8229600" imgH="5765800" progId="Word.Document.12">
                  <p:embed/>
                  <p:pic>
                    <p:nvPicPr>
                      <p:cNvPr id="4" name="Content Placeholder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04668" y="1442358"/>
                        <a:ext cx="7344782" cy="514588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09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568" y="198896"/>
            <a:ext cx="7886700" cy="85803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Visualizing Genomic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8568" y="1143289"/>
            <a:ext cx="7886700" cy="4351338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dirty="0"/>
              <a:t>Scaffolds/contigs</a:t>
            </a:r>
          </a:p>
          <a:p>
            <a:pPr>
              <a:spcBef>
                <a:spcPts val="400"/>
              </a:spcBef>
            </a:pPr>
            <a:r>
              <a:rPr lang="en-US" dirty="0"/>
              <a:t>GC-content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14" y="2096924"/>
            <a:ext cx="6185854" cy="42648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C915EF36-5C0E-6346-E652-E7F9C709D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199160"/>
              </p:ext>
            </p:extLst>
          </p:nvPr>
        </p:nvGraphicFramePr>
        <p:xfrm>
          <a:off x="246732" y="2096924"/>
          <a:ext cx="4435437" cy="3107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229600" imgH="5765800" progId="Word.Document.12">
                  <p:embed/>
                </p:oleObj>
              </mc:Choice>
              <mc:Fallback>
                <p:oleObj name="Document" r:id="rId3" imgW="8229600" imgH="5765800" progId="Word.Document.12">
                  <p:embed/>
                  <p:pic>
                    <p:nvPicPr>
                      <p:cNvPr id="4" name="Content Placeholder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732" y="2096924"/>
                        <a:ext cx="4435437" cy="310754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0222D02D-D698-AFD0-B22A-6777259D547B}"/>
              </a:ext>
            </a:extLst>
          </p:cNvPr>
          <p:cNvSpPr/>
          <p:nvPr/>
        </p:nvSpPr>
        <p:spPr>
          <a:xfrm rot="2299977">
            <a:off x="4792335" y="4463869"/>
            <a:ext cx="683046" cy="198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051BFA-5869-A291-BD8C-EB773F0C4D3C}"/>
              </a:ext>
            </a:extLst>
          </p:cNvPr>
          <p:cNvSpPr txBox="1">
            <a:spLocks/>
          </p:cNvSpPr>
          <p:nvPr/>
        </p:nvSpPr>
        <p:spPr>
          <a:xfrm>
            <a:off x="246732" y="53142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dirty="0"/>
              <a:t>Predicted genes</a:t>
            </a:r>
          </a:p>
          <a:p>
            <a:pPr>
              <a:spcBef>
                <a:spcPts val="400"/>
              </a:spcBef>
            </a:pPr>
            <a:r>
              <a:rPr lang="en-US" dirty="0"/>
              <a:t>RNA-Seq reads</a:t>
            </a:r>
          </a:p>
          <a:p>
            <a:pPr>
              <a:spcBef>
                <a:spcPts val="400"/>
              </a:spcBef>
            </a:pPr>
            <a:r>
              <a:rPr lang="en-US" dirty="0"/>
              <a:t>Variant calls, etc.</a:t>
            </a:r>
          </a:p>
        </p:txBody>
      </p:sp>
    </p:spTree>
    <p:extLst>
      <p:ext uri="{BB962C8B-B14F-4D97-AF65-F5344CB8AC3E}">
        <p14:creationId xmlns:p14="http://schemas.microsoft.com/office/powerpoint/2010/main" val="175906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7551" y="280987"/>
            <a:ext cx="7886700" cy="100647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Getting Feature Information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7120" y="2225675"/>
            <a:ext cx="5895861" cy="43513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3444694" y="1599554"/>
            <a:ext cx="3094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Mouse-over: lists ID</a:t>
            </a:r>
          </a:p>
        </p:txBody>
      </p:sp>
      <p:sp>
        <p:nvSpPr>
          <p:cNvPr id="6" name="Up Arrow 5"/>
          <p:cNvSpPr/>
          <p:nvPr/>
        </p:nvSpPr>
        <p:spPr>
          <a:xfrm rot="13688481">
            <a:off x="5915025" y="4691063"/>
            <a:ext cx="400050" cy="781050"/>
          </a:xfrm>
          <a:prstGeom prst="up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6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189" y="327844"/>
            <a:ext cx="7624841" cy="926923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Click to Retrieve Database Records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33" y="2334070"/>
            <a:ext cx="3382485" cy="43513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073" y="1858139"/>
            <a:ext cx="3111021" cy="38710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927" y="1528350"/>
            <a:ext cx="4315114" cy="22360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71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45696" y="275114"/>
            <a:ext cx="6984694" cy="999650"/>
          </a:xfrm>
          <a:solidFill>
            <a:schemeClr val="bg1">
              <a:lumMod val="85000"/>
            </a:schemeClr>
          </a:solidFill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/>
              <a:t>A Plethora of Genome Browsers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3745" y="2006600"/>
            <a:ext cx="4328993" cy="4851400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Annmap</a:t>
            </a:r>
            <a:endParaRPr lang="en-US" dirty="0"/>
          </a:p>
          <a:p>
            <a:r>
              <a:rPr lang="en-US" dirty="0"/>
              <a:t>Apollo Genome Annotation Curation Tool</a:t>
            </a:r>
          </a:p>
          <a:p>
            <a:r>
              <a:rPr lang="en-US" dirty="0"/>
              <a:t>Argo Genome Browser</a:t>
            </a:r>
          </a:p>
          <a:p>
            <a:r>
              <a:rPr lang="en-US" dirty="0" err="1"/>
              <a:t>Avadis</a:t>
            </a:r>
            <a:r>
              <a:rPr lang="en-US" dirty="0"/>
              <a:t> NGS</a:t>
            </a:r>
          </a:p>
          <a:p>
            <a:r>
              <a:rPr lang="en-US" dirty="0" err="1"/>
              <a:t>BugView</a:t>
            </a:r>
            <a:endParaRPr lang="en-US" dirty="0"/>
          </a:p>
          <a:p>
            <a:r>
              <a:rPr lang="en-US" dirty="0"/>
              <a:t>Celera Genome Browser</a:t>
            </a:r>
          </a:p>
          <a:p>
            <a:r>
              <a:rPr lang="en-US" dirty="0"/>
              <a:t>Dalliance</a:t>
            </a:r>
          </a:p>
          <a:p>
            <a:r>
              <a:rPr lang="en-US" dirty="0" err="1"/>
              <a:t>DiProGB</a:t>
            </a:r>
            <a:endParaRPr lang="en-US" dirty="0"/>
          </a:p>
          <a:p>
            <a:r>
              <a:rPr lang="en-US" dirty="0" err="1"/>
              <a:t>DNAnexus</a:t>
            </a:r>
            <a:endParaRPr lang="en-US" dirty="0"/>
          </a:p>
          <a:p>
            <a:r>
              <a:rPr lang="en-US" dirty="0" err="1"/>
              <a:t>Ensembl</a:t>
            </a:r>
            <a:endParaRPr lang="en-US" dirty="0"/>
          </a:p>
          <a:p>
            <a:r>
              <a:rPr lang="en-US" dirty="0"/>
              <a:t>Gaggle Genome Browser</a:t>
            </a:r>
          </a:p>
          <a:p>
            <a:r>
              <a:rPr lang="en-US" dirty="0" err="1"/>
              <a:t>GBrowse</a:t>
            </a:r>
            <a:endParaRPr lang="en-US" dirty="0"/>
          </a:p>
          <a:p>
            <a:r>
              <a:rPr lang="en-US" dirty="0"/>
              <a:t>The Genomic </a:t>
            </a:r>
            <a:r>
              <a:rPr lang="en-US" dirty="0" err="1"/>
              <a:t>HyperBrowser</a:t>
            </a:r>
            <a:endParaRPr lang="en-US" dirty="0"/>
          </a:p>
          <a:p>
            <a:r>
              <a:rPr lang="en-US" dirty="0" err="1"/>
              <a:t>Genostar</a:t>
            </a:r>
            <a:r>
              <a:rPr lang="en-US" dirty="0"/>
              <a:t> </a:t>
            </a:r>
            <a:r>
              <a:rPr lang="en-US" dirty="0" err="1"/>
              <a:t>GenoBrowser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900145" y="2006601"/>
            <a:ext cx="4038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GenPlay</a:t>
            </a:r>
            <a:endParaRPr lang="en-US" dirty="0"/>
          </a:p>
          <a:p>
            <a:r>
              <a:rPr lang="en-US" dirty="0"/>
              <a:t>Integrated Genome Browser (IGB)</a:t>
            </a:r>
          </a:p>
          <a:p>
            <a:r>
              <a:rPr lang="en-US" dirty="0">
                <a:solidFill>
                  <a:srgbClr val="FF0000"/>
                </a:solidFill>
              </a:rPr>
              <a:t>Integrated Genomics Viewer (IGV)</a:t>
            </a:r>
          </a:p>
          <a:p>
            <a:r>
              <a:rPr lang="en-US" dirty="0"/>
              <a:t>Integrated Microbial Genomes (IMG)</a:t>
            </a:r>
          </a:p>
          <a:p>
            <a:r>
              <a:rPr lang="en-US" dirty="0" err="1"/>
              <a:t>JBrowse</a:t>
            </a:r>
            <a:r>
              <a:rPr lang="en-US" dirty="0"/>
              <a:t> (a JavaScript browser )</a:t>
            </a:r>
          </a:p>
          <a:p>
            <a:r>
              <a:rPr lang="en-US" dirty="0"/>
              <a:t>MGV - Microbial Genome Viewer</a:t>
            </a:r>
          </a:p>
          <a:p>
            <a:r>
              <a:rPr lang="en-US" dirty="0" err="1"/>
              <a:t>MochiView</a:t>
            </a:r>
            <a:r>
              <a:rPr lang="en-US" dirty="0"/>
              <a:t> Genome Browser</a:t>
            </a:r>
          </a:p>
          <a:p>
            <a:r>
              <a:rPr lang="en-US" dirty="0" err="1"/>
              <a:t>NextBio</a:t>
            </a:r>
            <a:r>
              <a:rPr lang="en-US" dirty="0"/>
              <a:t> Genome Browser</a:t>
            </a:r>
          </a:p>
          <a:p>
            <a:r>
              <a:rPr lang="en-US" dirty="0"/>
              <a:t>Pathway Tools Genome Browser</a:t>
            </a:r>
          </a:p>
          <a:p>
            <a:r>
              <a:rPr lang="en-US" dirty="0"/>
              <a:t>Savant Genome Browser</a:t>
            </a:r>
          </a:p>
          <a:p>
            <a:r>
              <a:rPr lang="en-US" dirty="0"/>
              <a:t>SEED viewer</a:t>
            </a:r>
          </a:p>
          <a:p>
            <a:r>
              <a:rPr lang="en-US" dirty="0"/>
              <a:t>UCSC Genome Bioinformatics Genome Browser </a:t>
            </a:r>
          </a:p>
          <a:p>
            <a:r>
              <a:rPr lang="en-US" dirty="0"/>
              <a:t>Viral Genome Organizer (VGO)</a:t>
            </a:r>
          </a:p>
          <a:p>
            <a:r>
              <a:rPr lang="en-US" dirty="0"/>
              <a:t>VISTA genome browser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8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09292" y="365128"/>
            <a:ext cx="5930058" cy="945880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This Afternoon’s Activities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63108" y="1934726"/>
            <a:ext cx="8343900" cy="455814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Overall goal: Learn how to set up, navigate and interpret the</a:t>
            </a:r>
            <a:r>
              <a:rPr lang="en-US" b="1" dirty="0"/>
              <a:t> Integrative Genomics Viewer</a:t>
            </a:r>
          </a:p>
          <a:p>
            <a:r>
              <a:rPr lang="en-US" dirty="0"/>
              <a:t>Populate the browser with data and visualize:</a:t>
            </a:r>
          </a:p>
          <a:p>
            <a:pPr lvl="1"/>
            <a:r>
              <a:rPr lang="en-US" dirty="0"/>
              <a:t>A </a:t>
            </a:r>
            <a:r>
              <a:rPr lang="en-US" i="1" dirty="0" err="1"/>
              <a:t>Magnaporthe</a:t>
            </a:r>
            <a:r>
              <a:rPr lang="en-US" dirty="0"/>
              <a:t> sequence </a:t>
            </a:r>
            <a:r>
              <a:rPr lang="en-US" dirty="0" err="1"/>
              <a:t>contig</a:t>
            </a:r>
            <a:endParaRPr lang="en-US" dirty="0"/>
          </a:p>
          <a:p>
            <a:pPr lvl="1"/>
            <a:r>
              <a:rPr lang="en-US" dirty="0"/>
              <a:t>Predicted genes on that contig</a:t>
            </a:r>
          </a:p>
          <a:p>
            <a:pPr lvl="1"/>
            <a:r>
              <a:rPr lang="en-US" dirty="0"/>
              <a:t>Corresponding MAKER annotations</a:t>
            </a:r>
          </a:p>
          <a:p>
            <a:pPr lvl="1"/>
            <a:r>
              <a:rPr lang="en-US" dirty="0"/>
              <a:t>RNA-Seq reads</a:t>
            </a:r>
          </a:p>
          <a:p>
            <a:pPr lvl="1"/>
            <a:r>
              <a:rPr lang="en-US" dirty="0"/>
              <a:t>Variant calls</a:t>
            </a:r>
          </a:p>
          <a:p>
            <a:r>
              <a:rPr lang="en-US" dirty="0"/>
              <a:t>Explore the browser to get an idea of how it works and how the tracks can be manipulated/activated/de-activated</a:t>
            </a:r>
          </a:p>
          <a:p>
            <a:r>
              <a:rPr lang="en-US" dirty="0"/>
              <a:t>Identify key gene features (start codons, intron/exon boundaries, etc.)</a:t>
            </a:r>
          </a:p>
          <a:p>
            <a:r>
              <a:rPr lang="en-US" dirty="0"/>
              <a:t>Search for “interesting” expression patterns</a:t>
            </a:r>
          </a:p>
        </p:txBody>
      </p:sp>
    </p:spTree>
    <p:extLst>
      <p:ext uri="{BB962C8B-B14F-4D97-AF65-F5344CB8AC3E}">
        <p14:creationId xmlns:p14="http://schemas.microsoft.com/office/powerpoint/2010/main" val="1400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9D35-D144-1F5F-723D-4CBBAA8E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118410"/>
          </a:xfrm>
          <a:solidFill>
            <a:srgbClr val="D9D9D9"/>
          </a:solidFill>
        </p:spPr>
        <p:txBody>
          <a:bodyPr/>
          <a:lstStyle/>
          <a:p>
            <a:r>
              <a:rPr lang="en-US" dirty="0"/>
              <a:t>RNA-clique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4DD7-B4F4-5001-C10C-F12767917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775"/>
            <a:ext cx="4957204" cy="4182187"/>
          </a:xfrm>
        </p:spPr>
        <p:txBody>
          <a:bodyPr/>
          <a:lstStyle/>
          <a:p>
            <a:r>
              <a:rPr lang="en-US" sz="2400" dirty="0"/>
              <a:t>RNA-clique computes </a:t>
            </a:r>
            <a:r>
              <a:rPr lang="en-US" sz="2400" b="1" dirty="0"/>
              <a:t>genetic distances</a:t>
            </a:r>
            <a:r>
              <a:rPr lang="en-US" sz="2400" dirty="0"/>
              <a:t> from assembled transcriptomes.</a:t>
            </a:r>
          </a:p>
          <a:p>
            <a:pPr lvl="1"/>
            <a:r>
              <a:rPr lang="en-US" sz="2000" dirty="0"/>
              <a:t>Tells us the extent to which a set of samples’ (e.g., individuals) genomes differ from one other.</a:t>
            </a:r>
          </a:p>
          <a:p>
            <a:r>
              <a:rPr lang="en-US" sz="2400" dirty="0"/>
              <a:t>We can use genetic distances to generate:</a:t>
            </a:r>
          </a:p>
          <a:p>
            <a:pPr lvl="1"/>
            <a:r>
              <a:rPr lang="en-US" sz="2000" dirty="0"/>
              <a:t>Phylogenetic trees</a:t>
            </a:r>
          </a:p>
          <a:p>
            <a:pPr lvl="1"/>
            <a:r>
              <a:rPr lang="en-US" sz="2000" dirty="0"/>
              <a:t>Visualizations</a:t>
            </a:r>
          </a:p>
          <a:p>
            <a:pPr lvl="2"/>
            <a:r>
              <a:rPr lang="en-US" sz="1800" dirty="0"/>
              <a:t>Heatmaps</a:t>
            </a:r>
          </a:p>
          <a:p>
            <a:pPr lvl="2"/>
            <a:r>
              <a:rPr lang="en-US" sz="1800" dirty="0" err="1"/>
              <a:t>PCoA</a:t>
            </a:r>
            <a:r>
              <a:rPr lang="en-US" sz="1800" dirty="0"/>
              <a:t> plots</a:t>
            </a:r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3453581-394C-A39C-E914-B57BCA3F2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77244" y="4286645"/>
            <a:ext cx="2589069" cy="176106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618E06-DC74-90BC-12C0-78B55856C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096000" y="4225355"/>
            <a:ext cx="2399264" cy="188364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93FEE27-49CD-258C-2AC1-2D183A73F7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2514" y="1988609"/>
            <a:ext cx="2399264" cy="189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8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DE74-FB48-F302-A08D-20E034D4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129A-A305-DE7C-3F73-7201FA4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602067" cy="1118410"/>
          </a:xfrm>
          <a:solidFill>
            <a:srgbClr val="D9D9D9"/>
          </a:solidFill>
        </p:spPr>
        <p:txBody>
          <a:bodyPr>
            <a:normAutofit/>
          </a:bodyPr>
          <a:lstStyle/>
          <a:p>
            <a:r>
              <a:rPr lang="en-US" sz="3600" dirty="0"/>
              <a:t>Genetic Distances from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AA2D4-8497-D80A-DD7F-97A8E4CDC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775"/>
            <a:ext cx="4957204" cy="418218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Genetic distances should </a:t>
            </a:r>
            <a:r>
              <a:rPr lang="en-US" sz="2400" i="1" dirty="0"/>
              <a:t>not</a:t>
            </a:r>
            <a:r>
              <a:rPr lang="en-US" sz="2400" dirty="0"/>
              <a:t> account for differences in gene expression.</a:t>
            </a:r>
          </a:p>
          <a:p>
            <a:r>
              <a:rPr lang="en-US" sz="2400" dirty="0"/>
              <a:t>Could be a problem when we have:</a:t>
            </a:r>
          </a:p>
          <a:p>
            <a:pPr lvl="1"/>
            <a:r>
              <a:rPr lang="en-US" sz="2000" dirty="0"/>
              <a:t>RNA-Seq data from two different tissue types.</a:t>
            </a:r>
          </a:p>
          <a:p>
            <a:pPr lvl="1"/>
            <a:r>
              <a:rPr lang="en-US" sz="2000" dirty="0"/>
              <a:t>RNA-Seq data from two different conditions.</a:t>
            </a:r>
          </a:p>
          <a:p>
            <a:r>
              <a:rPr lang="en-US" sz="2400" dirty="0"/>
              <a:t>It’s easy to inadvertently pick up on differences in expression. </a:t>
            </a:r>
          </a:p>
          <a:p>
            <a:pPr lvl="1"/>
            <a:r>
              <a:rPr lang="en-US" sz="2000" dirty="0"/>
              <a:t>RNA-clique explicitly compares orthologs present in all samples to avoid this problem.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342A752-1BF5-CA69-2EAC-304EE12AC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6399" y="2081262"/>
            <a:ext cx="4462782" cy="3182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730382-9CE6-73FB-48AE-5597B6593540}"/>
              </a:ext>
            </a:extLst>
          </p:cNvPr>
          <p:cNvSpPr txBox="1"/>
          <p:nvPr/>
        </p:nvSpPr>
        <p:spPr>
          <a:xfrm>
            <a:off x="7197180" y="5298494"/>
            <a:ext cx="3167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 other software, samples might group neatly by tissue type.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6B6682-64C6-AF58-9279-8F8E56E414E4}"/>
              </a:ext>
            </a:extLst>
          </p:cNvPr>
          <p:cNvCxnSpPr>
            <a:cxnSpLocks/>
          </p:cNvCxnSpPr>
          <p:nvPr/>
        </p:nvCxnSpPr>
        <p:spPr>
          <a:xfrm flipV="1">
            <a:off x="5599912" y="3429000"/>
            <a:ext cx="796686" cy="285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3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1703-847B-99E7-3A39-7406378F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8A8C-6705-D51C-8737-E38A2A5E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06967" cy="1118410"/>
          </a:xfrm>
          <a:solidFill>
            <a:srgbClr val="D9D9D9"/>
          </a:solidFill>
        </p:spPr>
        <p:txBody>
          <a:bodyPr>
            <a:normAutofit/>
          </a:bodyPr>
          <a:lstStyle/>
          <a:p>
            <a:r>
              <a:rPr lang="en-US" sz="4000" dirty="0"/>
              <a:t>RNA-clique Method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5C1F8-F4EE-790D-5E6B-549BA7BEE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062130"/>
                <a:ext cx="10588647" cy="4114832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b="1" dirty="0"/>
                  <a:t>Assemble </a:t>
                </a:r>
                <a:r>
                  <a:rPr lang="en-US" sz="2000" dirty="0"/>
                  <a:t>RNA-Seq reads into transcriptomes.</a:t>
                </a:r>
                <a:endParaRPr lang="en-US" sz="2000" b="1" dirty="0"/>
              </a:p>
              <a:p>
                <a:pPr marL="457200" indent="-457200">
                  <a:buAutoNum type="arabicPeriod"/>
                </a:pPr>
                <a:r>
                  <a:rPr lang="en-US" sz="2000" b="1" dirty="0"/>
                  <a:t>Select</a:t>
                </a:r>
                <a:r>
                  <a:rPr lang="en-US" sz="2000" dirty="0"/>
                  <a:t> the genes assembled from the most sequence.</a:t>
                </a:r>
              </a:p>
              <a:p>
                <a:pPr marL="457200" indent="-457200">
                  <a:buAutoNum type="arabicPeriod"/>
                </a:pPr>
                <a:r>
                  <a:rPr lang="en-US" sz="2000" b="1" dirty="0"/>
                  <a:t>BLAST</a:t>
                </a:r>
                <a:r>
                  <a:rPr lang="en-US" sz="2000" dirty="0"/>
                  <a:t> the top genes for each individual against every other.</a:t>
                </a:r>
              </a:p>
              <a:p>
                <a:pPr lvl="1"/>
                <a:r>
                  <a:rPr lang="en-US" sz="1600" dirty="0"/>
                  <a:t>We get two sets of BLAST results per pair of samples—one for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vs.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, one for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vs.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sz="2000" b="1" dirty="0"/>
                  <a:t>Combine</a:t>
                </a:r>
                <a:r>
                  <a:rPr lang="en-US" sz="2000" dirty="0"/>
                  <a:t> BLAST results in both directions to get “gene matches tables.”</a:t>
                </a:r>
              </a:p>
              <a:p>
                <a:pPr lvl="1"/>
                <a:r>
                  <a:rPr lang="en-US" sz="1600" dirty="0"/>
                  <a:t>This gives us best matches in sample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for genes in sample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, and vice versa.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Build</a:t>
                </a:r>
                <a:r>
                  <a:rPr lang="en-US" sz="2000" dirty="0"/>
                  <a:t> a graph where we have an edge between two genes if they appear together in one of the gene matches tables.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Identify</a:t>
                </a:r>
                <a:r>
                  <a:rPr lang="en-US" sz="2000" dirty="0"/>
                  <a:t> “ideal” components of the graph—i.e., those that are cliques and that have genes from every sample.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Filter</a:t>
                </a:r>
                <a:r>
                  <a:rPr lang="en-US" sz="2000" dirty="0"/>
                  <a:t> the gene matches tables to include only genes in ideal components.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Calculate</a:t>
                </a:r>
                <a:r>
                  <a:rPr lang="en-US" sz="2000" dirty="0"/>
                  <a:t> distances from the filtered gene matches tables.</a:t>
                </a:r>
                <a:endParaRPr lang="en-US" sz="2000" b="1" dirty="0"/>
              </a:p>
              <a:p>
                <a:pPr marL="457200" indent="-457200"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5C1F8-F4EE-790D-5E6B-549BA7BEE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062130"/>
                <a:ext cx="10588647" cy="4114832"/>
              </a:xfrm>
              <a:blipFill>
                <a:blip r:embed="rId2"/>
                <a:stretch>
                  <a:fillRect l="-576" t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362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388B-DE61-C9BC-CFBB-C2ABD0A6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A41C-1A9B-106B-B424-2D7D01CB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06967" cy="1118410"/>
          </a:xfrm>
          <a:solidFill>
            <a:srgbClr val="D9D9D9"/>
          </a:solidFill>
        </p:spPr>
        <p:txBody>
          <a:bodyPr>
            <a:normAutofit fontScale="90000"/>
          </a:bodyPr>
          <a:lstStyle/>
          <a:p>
            <a:r>
              <a:rPr lang="en-US" sz="4000" dirty="0"/>
              <a:t>RNA-clique Command-line Interface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59390-FED7-4B64-F864-B24BF5A051E3}"/>
              </a:ext>
            </a:extLst>
          </p:cNvPr>
          <p:cNvSpPr/>
          <p:nvPr/>
        </p:nvSpPr>
        <p:spPr>
          <a:xfrm>
            <a:off x="485578" y="1971397"/>
            <a:ext cx="10941269" cy="2246769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marL="228600" marR="0" indent="-228600" algn="l">
              <a:buNone/>
            </a:pPr>
            <a:r>
              <a:rPr lang="en-US" sz="2800" dirty="0" err="1">
                <a:effectLst/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rna</a:t>
            </a:r>
            <a:r>
              <a:rPr lang="en-US" sz="2800" dirty="0">
                <a:effectLst/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-clique -O </a:t>
            </a:r>
            <a:r>
              <a:rPr lang="en-US" sz="2800" dirty="0" err="1">
                <a:effectLst/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rna_clique_out</a:t>
            </a:r>
            <a:endParaRPr lang="en-US" sz="2800" dirty="0">
              <a:effectLst/>
              <a:latin typeface="DejaVu Sans Mono" panose="020B060903080402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28600" marR="0" indent="-228600" algn="l">
              <a:buNone/>
            </a:pPr>
            <a:r>
              <a:rPr lang="en-US" sz="2800" dirty="0"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US" sz="2800" dirty="0">
                <a:effectLst/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-n 50000</a:t>
            </a:r>
          </a:p>
          <a:p>
            <a:pPr marL="228600" marR="0" indent="-228600" algn="l">
              <a:buNone/>
            </a:pPr>
            <a:r>
              <a:rPr lang="en-US" sz="2800" dirty="0"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sample_1</a:t>
            </a:r>
          </a:p>
          <a:p>
            <a:pPr marL="228600" marR="0" indent="-228600" algn="l">
              <a:buNone/>
            </a:pPr>
            <a:r>
              <a:rPr lang="en-US" sz="2800" dirty="0">
                <a:effectLst/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sample_2</a:t>
            </a:r>
          </a:p>
          <a:p>
            <a:pPr marL="228600" marR="0" indent="-228600" algn="l">
              <a:buNone/>
            </a:pPr>
            <a:r>
              <a:rPr lang="en-US" sz="2800" dirty="0">
                <a:latin typeface="DejaVu Sans Mono" panose="020B06090308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sample_3</a:t>
            </a:r>
            <a:endParaRPr lang="en-US" sz="20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5D1794-8C89-4A46-6E75-67BD807233B6}"/>
              </a:ext>
            </a:extLst>
          </p:cNvPr>
          <p:cNvGraphicFramePr>
            <a:graphicFrameLocks noGrp="1"/>
          </p:cNvGraphicFramePr>
          <p:nvPr/>
        </p:nvGraphicFramePr>
        <p:xfrm>
          <a:off x="489780" y="4474705"/>
          <a:ext cx="10388427" cy="224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6363">
                  <a:extLst>
                    <a:ext uri="{9D8B030D-6E8A-4147-A177-3AD203B41FA5}">
                      <a16:colId xmlns:a16="http://schemas.microsoft.com/office/drawing/2014/main" val="3521595382"/>
                    </a:ext>
                  </a:extLst>
                </a:gridCol>
                <a:gridCol w="6262064">
                  <a:extLst>
                    <a:ext uri="{9D8B030D-6E8A-4147-A177-3AD203B41FA5}">
                      <a16:colId xmlns:a16="http://schemas.microsoft.com/office/drawing/2014/main" val="4289092415"/>
                    </a:ext>
                  </a:extLst>
                </a:gridCol>
              </a:tblGrid>
              <a:tr h="54678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DejaVu Sans Mono" panose="020B0609030804020204" pitchFamily="49" charset="0"/>
                          <a:ea typeface="DejaVu Sans Mono" panose="020B0609030804020204" pitchFamily="49" charset="0"/>
                          <a:cs typeface="DejaVu Sans Mono" panose="020B0609030804020204" pitchFamily="49" charset="0"/>
                        </a:rPr>
                        <a:t>-O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Output directory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317605"/>
                  </a:ext>
                </a:extLst>
              </a:tr>
              <a:tr h="89212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DejaVu Sans Mono" panose="020B0609030804020204" pitchFamily="49" charset="0"/>
                          <a:ea typeface="DejaVu Sans Mono" panose="020B0609030804020204" pitchFamily="49" charset="0"/>
                          <a:cs typeface="DejaVu Sans Mono" panose="020B0609030804020204" pitchFamily="49" charset="0"/>
                        </a:rPr>
                        <a:t>-n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Number of top genes to select for each sample.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547621"/>
                  </a:ext>
                </a:extLst>
              </a:tr>
              <a:tr h="807859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DejaVu Sans Mono" panose="020B0609030804020204" pitchFamily="49" charset="0"/>
                          <a:ea typeface="DejaVu Sans Mono" panose="020B0609030804020204" pitchFamily="49" charset="0"/>
                          <a:cs typeface="DejaVu Sans Mono" panose="020B0609030804020204" pitchFamily="49" charset="0"/>
                        </a:rPr>
                        <a:t>sample_1 sample_2 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Paths to samples’ transcriptomes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34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13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1_Unix" id="{B97A8DFC-3B5B-CF40-A248-4D40295A317E}" vid="{1E468086-C5C6-4940-AA7B-9FFADE1631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597</Words>
  <Application>Microsoft Macintosh PowerPoint</Application>
  <PresentationFormat>Widescreen</PresentationFormat>
  <Paragraphs>95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DejaVu Sans Mono</vt:lpstr>
      <vt:lpstr>Garamond</vt:lpstr>
      <vt:lpstr>Office Theme</vt:lpstr>
      <vt:lpstr>Document</vt:lpstr>
      <vt:lpstr>PowerPoint Presentation</vt:lpstr>
      <vt:lpstr>Genome Browsers</vt:lpstr>
      <vt:lpstr>Genome annotation files are hard to interpret</vt:lpstr>
      <vt:lpstr>Visualizing Genomic Features</vt:lpstr>
      <vt:lpstr>Getting Feature Information</vt:lpstr>
      <vt:lpstr>Click to Retrieve Database Records</vt:lpstr>
      <vt:lpstr>A Plethora of Genome Browsers</vt:lpstr>
      <vt:lpstr>This Afternoon’s Activities</vt:lpstr>
      <vt:lpstr>RNA-clique Overview</vt:lpstr>
      <vt:lpstr>Genetic Distances from RNA-Seq Data</vt:lpstr>
      <vt:lpstr>RNA-clique Method Steps</vt:lpstr>
      <vt:lpstr>RNA-clique Command-line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Farman, Mark L.</dc:creator>
  <cp:lastModifiedBy>Farman, Mark L.</cp:lastModifiedBy>
  <cp:revision>6</cp:revision>
  <dcterms:created xsi:type="dcterms:W3CDTF">2026-06-16T19:55:49Z</dcterms:created>
  <dcterms:modified xsi:type="dcterms:W3CDTF">2026-06-18T14:07:22Z</dcterms:modified>
</cp:coreProperties>
</file>